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5" r:id="rId3"/>
    <p:sldId id="257" r:id="rId4"/>
    <p:sldId id="259" r:id="rId5"/>
    <p:sldId id="261" r:id="rId6"/>
    <p:sldId id="260" r:id="rId7"/>
    <p:sldId id="262" r:id="rId8"/>
    <p:sldId id="258" r:id="rId9"/>
    <p:sldId id="263" r:id="rId10"/>
    <p:sldId id="266" r:id="rId11"/>
  </p:sldIdLst>
  <p:sldSz cx="12192000" cy="6858000"/>
  <p:notesSz cx="6858000" cy="9144000"/>
  <p:embeddedFontLst>
    <p:embeddedFont>
      <p:font typeface="Urbanist" panose="020B0604020202020204" charset="0"/>
      <p:regular r:id="rId13"/>
      <p:bold r:id="rId14"/>
      <p:italic r:id="rId15"/>
      <p:boldItalic r:id="rId16"/>
    </p:embeddedFont>
    <p:embeddedFont>
      <p:font typeface="Urbanist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4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deivy\OneDrive%20-%20Universidad%20Adolfo%20Ibanez\Escritorio\Informe%20Mensual\Informe%20Montec\C&#243;digo\Actividades%20Primavera%20P6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ivy\Downloads\Tabla_LB_vs_Forecast%20(2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1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Exceso Plazo por Actividad (Waterfall)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1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43557546071327435"/>
          <c:y val="9.6717932435864878E-2"/>
          <c:w val="0.58261817864338727"/>
          <c:h val="0.8659945389890779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Hoja3!$D$25</c:f>
              <c:strCache>
                <c:ptCount val="1"/>
                <c:pt idx="0">
                  <c:v>Exceso (días)</c:v>
                </c:pt>
              </c:strCache>
            </c:strRef>
          </c:tx>
          <c:spPr>
            <a:gradFill>
              <a:gsLst>
                <a:gs pos="0">
                  <a:srgbClr val="C00000"/>
                </a:gs>
                <a:gs pos="74000">
                  <a:srgbClr val="FF0000">
                    <a:alpha val="60000"/>
                  </a:srgb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00B050"/>
                  </a:gs>
                  <a:gs pos="74000">
                    <a:srgbClr val="92D050"/>
                  </a:gs>
                </a:gsLst>
                <a:lin ang="5400000" scaled="1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EA-499A-A3A2-C62D9DA59C1F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7EA-499A-A3A2-C62D9DA59C1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EA-499A-A3A2-C62D9DA59C1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7EA-499A-A3A2-C62D9DA59C1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7EA-499A-A3A2-C62D9DA59C1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7EA-499A-A3A2-C62D9DA59C1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7EA-499A-A3A2-C62D9DA59C1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7EA-499A-A3A2-C62D9DA59C1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7EA-499A-A3A2-C62D9DA59C1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7EA-499A-A3A2-C62D9DA59C1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7EA-499A-A3A2-C62D9DA59C1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7EA-499A-A3A2-C62D9DA59C1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7EA-499A-A3A2-C62D9DA59C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Urbanist" panose="020B0604020202020204" charset="0"/>
                    <a:ea typeface="Urbanist" panose="020B0604020202020204" charset="0"/>
                    <a:cs typeface="Urbanist" panose="020B060402020202020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Hoja3!$C$26:$C$60</c:f>
              <c:strCache>
                <c:ptCount val="35"/>
                <c:pt idx="0">
                  <c:v>IB26.1 AL IB28.1 (4490 m)</c:v>
                </c:pt>
                <c:pt idx="1">
                  <c:v>IB4 AL ID18 (470 m)</c:v>
                </c:pt>
                <c:pt idx="2">
                  <c:v>ID26 (475 m)</c:v>
                </c:pt>
                <c:pt idx="3">
                  <c:v>ID30 AL ID32 (65 m)</c:v>
                </c:pt>
                <c:pt idx="4">
                  <c:v>IB13 AL ID35.1 (60 m)</c:v>
                </c:pt>
                <c:pt idx="5">
                  <c:v>ID35.1 (480 m)</c:v>
                </c:pt>
                <c:pt idx="6">
                  <c:v>IB31.1 AL IB31.3 (235 m)</c:v>
                </c:pt>
                <c:pt idx="7">
                  <c:v>IB33.6 AL IB33.7 (890 m)</c:v>
                </c:pt>
                <c:pt idx="8">
                  <c:v>ID168 (CANTERA)+VIAL1 168-K (430 m)</c:v>
                </c:pt>
                <c:pt idx="9">
                  <c:v>ID168 (CAMINOS INTERNOS) (100 m)</c:v>
                </c:pt>
                <c:pt idx="10">
                  <c:v>ID168 (CAMINOS INTERNOS T1-T2) (229 m)</c:v>
                </c:pt>
                <c:pt idx="11">
                  <c:v>VIAL2 168-2 AL VIAL2 168-3 (117 m)</c:v>
                </c:pt>
                <c:pt idx="12">
                  <c:v>ID168 (PORTAL) (18 m)</c:v>
                </c:pt>
                <c:pt idx="13">
                  <c:v>ID28 (600 m)</c:v>
                </c:pt>
                <c:pt idx="14">
                  <c:v>ID33 AL IB13 (220 m)</c:v>
                </c:pt>
                <c:pt idx="15">
                  <c:v>ID35.1 AL ID50 (50 m)</c:v>
                </c:pt>
                <c:pt idx="16">
                  <c:v>ID50 AL ID58 (670 m)</c:v>
                </c:pt>
                <c:pt idx="17">
                  <c:v>IB32.1 AL IB33.1 (205 m)</c:v>
                </c:pt>
                <c:pt idx="18">
                  <c:v>IB33.2-IB33.4 (190 m)</c:v>
                </c:pt>
                <c:pt idx="19">
                  <c:v>IB33.12 (50 m)</c:v>
                </c:pt>
                <c:pt idx="20">
                  <c:v>VIAL1 168-O (180 m)</c:v>
                </c:pt>
                <c:pt idx="21">
                  <c:v>VIAL1 168-P + ID168 (CAMINOS INTERNOS) (152 m)</c:v>
                </c:pt>
                <c:pt idx="22">
                  <c:v>ID18 AL ID19 (175 m)</c:v>
                </c:pt>
                <c:pt idx="23">
                  <c:v>IB14.1.1 AL ID62.2.2 (230 m)</c:v>
                </c:pt>
                <c:pt idx="24">
                  <c:v>ID168 (CAMINOS INTERNOS T2) (281 m)</c:v>
                </c:pt>
                <c:pt idx="25">
                  <c:v>ID27 (140 m)</c:v>
                </c:pt>
                <c:pt idx="26">
                  <c:v>IB33.9 (26 m)</c:v>
                </c:pt>
                <c:pt idx="27">
                  <c:v>VIAL1 168-L AL VIAL1 168-M (140 m)</c:v>
                </c:pt>
                <c:pt idx="28">
                  <c:v>ID30 (430 m)</c:v>
                </c:pt>
                <c:pt idx="29">
                  <c:v>VIAL2 168-4 AL VIAL2 168-5 (219 m)</c:v>
                </c:pt>
                <c:pt idx="30">
                  <c:v>Paralelismo Sector La Gruta (570 m)</c:v>
                </c:pt>
                <c:pt idx="31">
                  <c:v>IB14.3 (743 m)</c:v>
                </c:pt>
                <c:pt idx="32">
                  <c:v>ID62.2.2 AL IB14.1.2 (525 m)</c:v>
                </c:pt>
                <c:pt idx="33">
                  <c:v>ID168 (CAMINOS INTERNOS T3) (608 m)</c:v>
                </c:pt>
                <c:pt idx="34">
                  <c:v>IB33.5 (1.950 m)</c:v>
                </c:pt>
              </c:strCache>
            </c:strRef>
          </c:cat>
          <c:val>
            <c:numRef>
              <c:f>Hoja3!$D$26:$D$60</c:f>
              <c:numCache>
                <c:formatCode>General</c:formatCode>
                <c:ptCount val="35"/>
                <c:pt idx="0">
                  <c:v>-19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4</c:v>
                </c:pt>
                <c:pt idx="26">
                  <c:v>4</c:v>
                </c:pt>
                <c:pt idx="27">
                  <c:v>5</c:v>
                </c:pt>
                <c:pt idx="28">
                  <c:v>8</c:v>
                </c:pt>
                <c:pt idx="29">
                  <c:v>11</c:v>
                </c:pt>
                <c:pt idx="30">
                  <c:v>19</c:v>
                </c:pt>
                <c:pt idx="31">
                  <c:v>29</c:v>
                </c:pt>
                <c:pt idx="32">
                  <c:v>36</c:v>
                </c:pt>
                <c:pt idx="33">
                  <c:v>103</c:v>
                </c:pt>
                <c:pt idx="34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7EA-499A-A3A2-C62D9DA59C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44842735"/>
        <c:axId val="444843215"/>
      </c:barChart>
      <c:catAx>
        <c:axId val="4448427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defRPr>
            </a:pPr>
            <a:endParaRPr lang="es-CL"/>
          </a:p>
        </c:txPr>
        <c:crossAx val="444843215"/>
        <c:crosses val="autoZero"/>
        <c:auto val="1"/>
        <c:lblAlgn val="l"/>
        <c:lblOffset val="1000"/>
        <c:noMultiLvlLbl val="0"/>
      </c:catAx>
      <c:valAx>
        <c:axId val="4448432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444842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sz="900"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 b="1"/>
              <a:t>Comparativo Actividades en Paralelo (diario</a:t>
            </a:r>
            <a:r>
              <a:rPr lang="es-CL" b="1" baseline="0"/>
              <a:t>) LB vs Forecast Nivelado</a:t>
            </a:r>
            <a:endParaRPr lang="es-CL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7.8289968887739772E-2"/>
          <c:y val="0.11807400032285653"/>
          <c:w val="0.88666158304435772"/>
          <c:h val="0.740825159147217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Hoja2!$B$22</c:f>
              <c:strCache>
                <c:ptCount val="1"/>
                <c:pt idx="0">
                  <c:v>Línea Base</c:v>
                </c:pt>
              </c:strCache>
            </c:strRef>
          </c:tx>
          <c:spPr>
            <a:gradFill>
              <a:gsLst>
                <a:gs pos="0">
                  <a:schemeClr val="tx2">
                    <a:lumMod val="10000"/>
                    <a:lumOff val="90000"/>
                  </a:schemeClr>
                </a:gs>
                <a:gs pos="74000">
                  <a:schemeClr val="tx2">
                    <a:lumMod val="50000"/>
                    <a:lumOff val="5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50800" dist="50800" dir="5400000" algn="ctr" rotWithShape="0">
                <a:srgbClr val="000000">
                  <a:alpha val="5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Hoja2!$A$23:$A$34</c:f>
              <c:numCache>
                <c:formatCode>mmm\-yy</c:formatCode>
                <c:ptCount val="12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  <c:pt idx="7">
                  <c:v>46023</c:v>
                </c:pt>
                <c:pt idx="8">
                  <c:v>46054</c:v>
                </c:pt>
                <c:pt idx="9">
                  <c:v>46082</c:v>
                </c:pt>
                <c:pt idx="10">
                  <c:v>46113</c:v>
                </c:pt>
                <c:pt idx="11">
                  <c:v>46143</c:v>
                </c:pt>
              </c:numCache>
            </c:numRef>
          </c:cat>
          <c:val>
            <c:numRef>
              <c:f>Hoja2!$B$23:$B$34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11</c:v>
                </c:pt>
                <c:pt idx="5">
                  <c:v>11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9-4EF5-B242-0E864B34A86E}"/>
            </c:ext>
          </c:extLst>
        </c:ser>
        <c:ser>
          <c:idx val="1"/>
          <c:order val="1"/>
          <c:tx>
            <c:strRef>
              <c:f>Hoja2!$C$22</c:f>
              <c:strCache>
                <c:ptCount val="1"/>
                <c:pt idx="0">
                  <c:v>Forecast Nivelado</c:v>
                </c:pt>
              </c:strCache>
            </c:strRef>
          </c:tx>
          <c:spPr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74000">
                  <a:schemeClr val="accent6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50800" dist="50800" dir="5400000" algn="ctr" rotWithShape="0">
                <a:srgbClr val="000000">
                  <a:alpha val="4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Hoja2!$A$23:$A$34</c:f>
              <c:numCache>
                <c:formatCode>mmm\-yy</c:formatCode>
                <c:ptCount val="12"/>
                <c:pt idx="0">
                  <c:v>45809</c:v>
                </c:pt>
                <c:pt idx="1">
                  <c:v>45839</c:v>
                </c:pt>
                <c:pt idx="2">
                  <c:v>45870</c:v>
                </c:pt>
                <c:pt idx="3">
                  <c:v>45901</c:v>
                </c:pt>
                <c:pt idx="4">
                  <c:v>45931</c:v>
                </c:pt>
                <c:pt idx="5">
                  <c:v>45962</c:v>
                </c:pt>
                <c:pt idx="6">
                  <c:v>45992</c:v>
                </c:pt>
                <c:pt idx="7">
                  <c:v>46023</c:v>
                </c:pt>
                <c:pt idx="8">
                  <c:v>46054</c:v>
                </c:pt>
                <c:pt idx="9">
                  <c:v>46082</c:v>
                </c:pt>
                <c:pt idx="10">
                  <c:v>46113</c:v>
                </c:pt>
                <c:pt idx="11">
                  <c:v>46143</c:v>
                </c:pt>
              </c:numCache>
            </c:numRef>
          </c:cat>
          <c:val>
            <c:numRef>
              <c:f>Hoja2!$C$23:$C$34</c:f>
              <c:numCache>
                <c:formatCode>General</c:formatCode>
                <c:ptCount val="12"/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79-4EF5-B242-0E864B34A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444762575"/>
        <c:axId val="444763535"/>
      </c:barChart>
      <c:lineChart>
        <c:grouping val="standard"/>
        <c:varyColors val="0"/>
        <c:ser>
          <c:idx val="2"/>
          <c:order val="2"/>
          <c:tx>
            <c:strRef>
              <c:f>Hoja2!$D$22</c:f>
              <c:strCache>
                <c:ptCount val="1"/>
                <c:pt idx="0">
                  <c:v>Promedio (Línea Base)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Hoja2!$D$23:$D$34</c:f>
              <c:numCache>
                <c:formatCode>General</c:formatCode>
                <c:ptCount val="12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79-4EF5-B242-0E864B34A8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4762575"/>
        <c:axId val="444763535"/>
      </c:lineChart>
      <c:dateAx>
        <c:axId val="444762575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444763535"/>
        <c:crosses val="autoZero"/>
        <c:auto val="1"/>
        <c:lblOffset val="100"/>
        <c:baseTimeUnit val="months"/>
      </c:dateAx>
      <c:valAx>
        <c:axId val="444763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 b="1"/>
                  <a:t>Max</a:t>
                </a:r>
                <a:r>
                  <a:rPr lang="es-CL" b="1" baseline="0"/>
                  <a:t> diario Actividades en Paralelo</a:t>
                </a:r>
                <a:endParaRPr lang="es-CL" b="1"/>
              </a:p>
            </c:rich>
          </c:tx>
          <c:layout>
            <c:manualLayout>
              <c:xMode val="edge"/>
              <c:yMode val="edge"/>
              <c:x val="2.9365362612375434E-2"/>
              <c:y val="0.254471362524778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out"/>
        <c:minorTickMark val="none"/>
        <c:tickLblPos val="nextTo"/>
        <c:crossAx val="444762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6590568036745216"/>
          <c:y val="0.93209635162085014"/>
          <c:w val="0.55889920045629671"/>
          <c:h val="5.61093581271112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/>
      </a:pPr>
      <a:endParaRPr lang="es-CL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 b="1"/>
              <a:t>Curva S - Forecast</a:t>
            </a:r>
            <a:r>
              <a:rPr lang="es-CL" b="1" baseline="0"/>
              <a:t> Montec vs Forecast Nivelado</a:t>
            </a:r>
            <a:endParaRPr lang="es-CL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Hoja1!$B$47</c:f>
              <c:strCache>
                <c:ptCount val="1"/>
                <c:pt idx="0">
                  <c:v>Forecast Montec</c:v>
                </c:pt>
              </c:strCache>
            </c:strRef>
          </c:tx>
          <c:spPr>
            <a:ln w="1905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Hoja1!$A$48:$A$204</c:f>
              <c:numCache>
                <c:formatCode>m/d/yyyy</c:formatCode>
                <c:ptCount val="157"/>
                <c:pt idx="0">
                  <c:v>46053</c:v>
                </c:pt>
                <c:pt idx="1">
                  <c:v>46054</c:v>
                </c:pt>
                <c:pt idx="2">
                  <c:v>46055</c:v>
                </c:pt>
                <c:pt idx="3">
                  <c:v>46056</c:v>
                </c:pt>
                <c:pt idx="4">
                  <c:v>46057</c:v>
                </c:pt>
                <c:pt idx="5">
                  <c:v>46058</c:v>
                </c:pt>
                <c:pt idx="6">
                  <c:v>46059</c:v>
                </c:pt>
                <c:pt idx="7">
                  <c:v>46060</c:v>
                </c:pt>
                <c:pt idx="8">
                  <c:v>46061</c:v>
                </c:pt>
                <c:pt idx="9">
                  <c:v>46062</c:v>
                </c:pt>
                <c:pt idx="10">
                  <c:v>46063</c:v>
                </c:pt>
                <c:pt idx="11">
                  <c:v>46064</c:v>
                </c:pt>
                <c:pt idx="12">
                  <c:v>46065</c:v>
                </c:pt>
                <c:pt idx="13">
                  <c:v>46066</c:v>
                </c:pt>
                <c:pt idx="14">
                  <c:v>46067</c:v>
                </c:pt>
                <c:pt idx="15">
                  <c:v>46068</c:v>
                </c:pt>
                <c:pt idx="16">
                  <c:v>46069</c:v>
                </c:pt>
                <c:pt idx="17">
                  <c:v>46070</c:v>
                </c:pt>
                <c:pt idx="18">
                  <c:v>46071</c:v>
                </c:pt>
                <c:pt idx="19">
                  <c:v>46072</c:v>
                </c:pt>
                <c:pt idx="20">
                  <c:v>46073</c:v>
                </c:pt>
                <c:pt idx="21">
                  <c:v>46074</c:v>
                </c:pt>
                <c:pt idx="22">
                  <c:v>46075</c:v>
                </c:pt>
                <c:pt idx="23">
                  <c:v>46076</c:v>
                </c:pt>
                <c:pt idx="24">
                  <c:v>46077</c:v>
                </c:pt>
                <c:pt idx="25">
                  <c:v>46078</c:v>
                </c:pt>
                <c:pt idx="26">
                  <c:v>46079</c:v>
                </c:pt>
                <c:pt idx="27">
                  <c:v>46080</c:v>
                </c:pt>
                <c:pt idx="28">
                  <c:v>46081</c:v>
                </c:pt>
                <c:pt idx="29">
                  <c:v>46082</c:v>
                </c:pt>
                <c:pt idx="30">
                  <c:v>46083</c:v>
                </c:pt>
                <c:pt idx="31">
                  <c:v>46084</c:v>
                </c:pt>
                <c:pt idx="32">
                  <c:v>46085</c:v>
                </c:pt>
                <c:pt idx="33">
                  <c:v>46086</c:v>
                </c:pt>
                <c:pt idx="34">
                  <c:v>46087</c:v>
                </c:pt>
                <c:pt idx="35">
                  <c:v>46088</c:v>
                </c:pt>
                <c:pt idx="36">
                  <c:v>46089</c:v>
                </c:pt>
                <c:pt idx="37">
                  <c:v>46090</c:v>
                </c:pt>
                <c:pt idx="38">
                  <c:v>46091</c:v>
                </c:pt>
                <c:pt idx="39">
                  <c:v>46092</c:v>
                </c:pt>
                <c:pt idx="40">
                  <c:v>46093</c:v>
                </c:pt>
                <c:pt idx="41">
                  <c:v>46094</c:v>
                </c:pt>
                <c:pt idx="42">
                  <c:v>46095</c:v>
                </c:pt>
                <c:pt idx="43">
                  <c:v>46096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46102</c:v>
                </c:pt>
                <c:pt idx="50">
                  <c:v>46103</c:v>
                </c:pt>
                <c:pt idx="51">
                  <c:v>46104</c:v>
                </c:pt>
                <c:pt idx="52">
                  <c:v>46105</c:v>
                </c:pt>
                <c:pt idx="53">
                  <c:v>46106</c:v>
                </c:pt>
                <c:pt idx="54">
                  <c:v>46107</c:v>
                </c:pt>
                <c:pt idx="55">
                  <c:v>46108</c:v>
                </c:pt>
                <c:pt idx="56">
                  <c:v>46109</c:v>
                </c:pt>
                <c:pt idx="57">
                  <c:v>46110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46116</c:v>
                </c:pt>
                <c:pt idx="64">
                  <c:v>46117</c:v>
                </c:pt>
                <c:pt idx="65">
                  <c:v>46118</c:v>
                </c:pt>
                <c:pt idx="66">
                  <c:v>46119</c:v>
                </c:pt>
                <c:pt idx="67">
                  <c:v>46120</c:v>
                </c:pt>
                <c:pt idx="68">
                  <c:v>46121</c:v>
                </c:pt>
                <c:pt idx="69">
                  <c:v>46122</c:v>
                </c:pt>
                <c:pt idx="70">
                  <c:v>46123</c:v>
                </c:pt>
                <c:pt idx="71">
                  <c:v>46124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46130</c:v>
                </c:pt>
                <c:pt idx="78">
                  <c:v>46131</c:v>
                </c:pt>
                <c:pt idx="79">
                  <c:v>46132</c:v>
                </c:pt>
                <c:pt idx="80">
                  <c:v>46133</c:v>
                </c:pt>
                <c:pt idx="81">
                  <c:v>46134</c:v>
                </c:pt>
                <c:pt idx="82">
                  <c:v>46135</c:v>
                </c:pt>
                <c:pt idx="83">
                  <c:v>46136</c:v>
                </c:pt>
                <c:pt idx="84">
                  <c:v>46137</c:v>
                </c:pt>
                <c:pt idx="85">
                  <c:v>46138</c:v>
                </c:pt>
                <c:pt idx="86">
                  <c:v>46139</c:v>
                </c:pt>
                <c:pt idx="87">
                  <c:v>46140</c:v>
                </c:pt>
                <c:pt idx="88">
                  <c:v>46141</c:v>
                </c:pt>
                <c:pt idx="89">
                  <c:v>46142</c:v>
                </c:pt>
                <c:pt idx="90">
                  <c:v>46143</c:v>
                </c:pt>
                <c:pt idx="91">
                  <c:v>46144</c:v>
                </c:pt>
                <c:pt idx="92">
                  <c:v>46145</c:v>
                </c:pt>
                <c:pt idx="93">
                  <c:v>46146</c:v>
                </c:pt>
                <c:pt idx="94">
                  <c:v>46147</c:v>
                </c:pt>
                <c:pt idx="95">
                  <c:v>46148</c:v>
                </c:pt>
                <c:pt idx="96">
                  <c:v>46149</c:v>
                </c:pt>
                <c:pt idx="97">
                  <c:v>46150</c:v>
                </c:pt>
                <c:pt idx="98">
                  <c:v>46151</c:v>
                </c:pt>
                <c:pt idx="99">
                  <c:v>46152</c:v>
                </c:pt>
                <c:pt idx="100">
                  <c:v>46153</c:v>
                </c:pt>
                <c:pt idx="101">
                  <c:v>46154</c:v>
                </c:pt>
                <c:pt idx="102">
                  <c:v>46155</c:v>
                </c:pt>
                <c:pt idx="103">
                  <c:v>46156</c:v>
                </c:pt>
                <c:pt idx="104">
                  <c:v>46157</c:v>
                </c:pt>
                <c:pt idx="105">
                  <c:v>46158</c:v>
                </c:pt>
                <c:pt idx="106">
                  <c:v>46159</c:v>
                </c:pt>
                <c:pt idx="107">
                  <c:v>46160</c:v>
                </c:pt>
                <c:pt idx="108">
                  <c:v>46161</c:v>
                </c:pt>
                <c:pt idx="109">
                  <c:v>46162</c:v>
                </c:pt>
                <c:pt idx="110">
                  <c:v>46163</c:v>
                </c:pt>
                <c:pt idx="111">
                  <c:v>46164</c:v>
                </c:pt>
                <c:pt idx="112">
                  <c:v>46165</c:v>
                </c:pt>
                <c:pt idx="113">
                  <c:v>46166</c:v>
                </c:pt>
                <c:pt idx="114">
                  <c:v>46167</c:v>
                </c:pt>
                <c:pt idx="115">
                  <c:v>46168</c:v>
                </c:pt>
                <c:pt idx="116">
                  <c:v>46169</c:v>
                </c:pt>
                <c:pt idx="117">
                  <c:v>46170</c:v>
                </c:pt>
                <c:pt idx="118">
                  <c:v>46171</c:v>
                </c:pt>
                <c:pt idx="119">
                  <c:v>46172</c:v>
                </c:pt>
                <c:pt idx="120">
                  <c:v>46173</c:v>
                </c:pt>
                <c:pt idx="121">
                  <c:v>46174</c:v>
                </c:pt>
                <c:pt idx="122">
                  <c:v>46175</c:v>
                </c:pt>
                <c:pt idx="123">
                  <c:v>46176</c:v>
                </c:pt>
                <c:pt idx="124">
                  <c:v>46177</c:v>
                </c:pt>
                <c:pt idx="125">
                  <c:v>46178</c:v>
                </c:pt>
                <c:pt idx="126">
                  <c:v>46179</c:v>
                </c:pt>
                <c:pt idx="127">
                  <c:v>46180</c:v>
                </c:pt>
                <c:pt idx="128">
                  <c:v>46181</c:v>
                </c:pt>
                <c:pt idx="129">
                  <c:v>46182</c:v>
                </c:pt>
                <c:pt idx="130">
                  <c:v>46183</c:v>
                </c:pt>
                <c:pt idx="131">
                  <c:v>46184</c:v>
                </c:pt>
                <c:pt idx="132">
                  <c:v>46185</c:v>
                </c:pt>
                <c:pt idx="133">
                  <c:v>46186</c:v>
                </c:pt>
                <c:pt idx="134">
                  <c:v>46187</c:v>
                </c:pt>
                <c:pt idx="135">
                  <c:v>46188</c:v>
                </c:pt>
                <c:pt idx="136">
                  <c:v>46189</c:v>
                </c:pt>
                <c:pt idx="137">
                  <c:v>46190</c:v>
                </c:pt>
                <c:pt idx="138">
                  <c:v>46191</c:v>
                </c:pt>
                <c:pt idx="139">
                  <c:v>46192</c:v>
                </c:pt>
                <c:pt idx="140">
                  <c:v>46193</c:v>
                </c:pt>
                <c:pt idx="141">
                  <c:v>46194</c:v>
                </c:pt>
                <c:pt idx="142">
                  <c:v>46195</c:v>
                </c:pt>
                <c:pt idx="143">
                  <c:v>46196</c:v>
                </c:pt>
                <c:pt idx="144">
                  <c:v>46197</c:v>
                </c:pt>
                <c:pt idx="145">
                  <c:v>46198</c:v>
                </c:pt>
                <c:pt idx="146">
                  <c:v>46199</c:v>
                </c:pt>
                <c:pt idx="147">
                  <c:v>46200</c:v>
                </c:pt>
                <c:pt idx="148">
                  <c:v>46201</c:v>
                </c:pt>
                <c:pt idx="149">
                  <c:v>46202</c:v>
                </c:pt>
                <c:pt idx="150">
                  <c:v>46203</c:v>
                </c:pt>
                <c:pt idx="151">
                  <c:v>46204</c:v>
                </c:pt>
                <c:pt idx="152">
                  <c:v>46205</c:v>
                </c:pt>
                <c:pt idx="153">
                  <c:v>46206</c:v>
                </c:pt>
                <c:pt idx="154">
                  <c:v>46207</c:v>
                </c:pt>
                <c:pt idx="155">
                  <c:v>46208</c:v>
                </c:pt>
                <c:pt idx="156">
                  <c:v>46209</c:v>
                </c:pt>
              </c:numCache>
            </c:numRef>
          </c:cat>
          <c:val>
            <c:numRef>
              <c:f>Hoja1!$B$48:$B$204</c:f>
              <c:numCache>
                <c:formatCode>General</c:formatCode>
                <c:ptCount val="157"/>
                <c:pt idx="0">
                  <c:v>0</c:v>
                </c:pt>
                <c:pt idx="1">
                  <c:v>0</c:v>
                </c:pt>
                <c:pt idx="2">
                  <c:v>169</c:v>
                </c:pt>
                <c:pt idx="3">
                  <c:v>307.5</c:v>
                </c:pt>
                <c:pt idx="4">
                  <c:v>346.5</c:v>
                </c:pt>
                <c:pt idx="5">
                  <c:v>395.7</c:v>
                </c:pt>
                <c:pt idx="6">
                  <c:v>439.7</c:v>
                </c:pt>
                <c:pt idx="7">
                  <c:v>483.7</c:v>
                </c:pt>
                <c:pt idx="8">
                  <c:v>526.29999999999995</c:v>
                </c:pt>
                <c:pt idx="9">
                  <c:v>580.29999999999995</c:v>
                </c:pt>
                <c:pt idx="10">
                  <c:v>646.4</c:v>
                </c:pt>
                <c:pt idx="11">
                  <c:v>702.1</c:v>
                </c:pt>
                <c:pt idx="12">
                  <c:v>769.80000000000007</c:v>
                </c:pt>
                <c:pt idx="13">
                  <c:v>848.7</c:v>
                </c:pt>
                <c:pt idx="14">
                  <c:v>927.40000000000009</c:v>
                </c:pt>
                <c:pt idx="15">
                  <c:v>1006.1000000000001</c:v>
                </c:pt>
                <c:pt idx="16">
                  <c:v>1091.1000000000001</c:v>
                </c:pt>
                <c:pt idx="17">
                  <c:v>1153.9000000000001</c:v>
                </c:pt>
                <c:pt idx="18">
                  <c:v>1216.7</c:v>
                </c:pt>
                <c:pt idx="19">
                  <c:v>1273.1000000000001</c:v>
                </c:pt>
                <c:pt idx="20">
                  <c:v>1329.5000000000002</c:v>
                </c:pt>
                <c:pt idx="21">
                  <c:v>1397.2000000000003</c:v>
                </c:pt>
                <c:pt idx="22">
                  <c:v>1464.9000000000003</c:v>
                </c:pt>
                <c:pt idx="23">
                  <c:v>1529.2000000000003</c:v>
                </c:pt>
                <c:pt idx="24">
                  <c:v>1593.5000000000002</c:v>
                </c:pt>
                <c:pt idx="25">
                  <c:v>1657.8000000000002</c:v>
                </c:pt>
                <c:pt idx="26">
                  <c:v>1722.1000000000001</c:v>
                </c:pt>
                <c:pt idx="27">
                  <c:v>1775.1000000000001</c:v>
                </c:pt>
                <c:pt idx="28">
                  <c:v>1828.1000000000001</c:v>
                </c:pt>
                <c:pt idx="29">
                  <c:v>1881.1000000000001</c:v>
                </c:pt>
                <c:pt idx="30">
                  <c:v>1922.9</c:v>
                </c:pt>
                <c:pt idx="31">
                  <c:v>1964.7</c:v>
                </c:pt>
                <c:pt idx="32">
                  <c:v>2012.6000000000001</c:v>
                </c:pt>
                <c:pt idx="33">
                  <c:v>2049.3000000000002</c:v>
                </c:pt>
                <c:pt idx="34">
                  <c:v>2086</c:v>
                </c:pt>
                <c:pt idx="35">
                  <c:v>2122.6999999999998</c:v>
                </c:pt>
                <c:pt idx="36">
                  <c:v>2159.3999999999996</c:v>
                </c:pt>
                <c:pt idx="37">
                  <c:v>2208.0999999999995</c:v>
                </c:pt>
                <c:pt idx="38">
                  <c:v>2256.7999999999993</c:v>
                </c:pt>
                <c:pt idx="39">
                  <c:v>2305.4999999999991</c:v>
                </c:pt>
                <c:pt idx="40">
                  <c:v>2354.1999999999989</c:v>
                </c:pt>
                <c:pt idx="41">
                  <c:v>2409.3999999999987</c:v>
                </c:pt>
                <c:pt idx="42">
                  <c:v>2470.9999999999986</c:v>
                </c:pt>
                <c:pt idx="43">
                  <c:v>2532.5999999999985</c:v>
                </c:pt>
                <c:pt idx="44">
                  <c:v>2594.8999999999987</c:v>
                </c:pt>
                <c:pt idx="45">
                  <c:v>2650.6999999999989</c:v>
                </c:pt>
                <c:pt idx="46">
                  <c:v>2714.7999999999988</c:v>
                </c:pt>
                <c:pt idx="47">
                  <c:v>2753.3999999999987</c:v>
                </c:pt>
                <c:pt idx="48">
                  <c:v>2791.9999999999986</c:v>
                </c:pt>
                <c:pt idx="49">
                  <c:v>2830.5999999999985</c:v>
                </c:pt>
                <c:pt idx="50">
                  <c:v>2868.4999999999986</c:v>
                </c:pt>
                <c:pt idx="51">
                  <c:v>2951.0999999999985</c:v>
                </c:pt>
                <c:pt idx="52">
                  <c:v>3020.7999999999984</c:v>
                </c:pt>
                <c:pt idx="53">
                  <c:v>3083.5999999999985</c:v>
                </c:pt>
                <c:pt idx="54">
                  <c:v>3141.4999999999986</c:v>
                </c:pt>
                <c:pt idx="55">
                  <c:v>3199.3999999999987</c:v>
                </c:pt>
                <c:pt idx="56">
                  <c:v>3257.2999999999988</c:v>
                </c:pt>
                <c:pt idx="57">
                  <c:v>3315.1999999999989</c:v>
                </c:pt>
                <c:pt idx="58">
                  <c:v>3373.099999999999</c:v>
                </c:pt>
                <c:pt idx="59">
                  <c:v>3430.9999999999991</c:v>
                </c:pt>
                <c:pt idx="60">
                  <c:v>3488.8999999999992</c:v>
                </c:pt>
                <c:pt idx="61">
                  <c:v>3546.7999999999993</c:v>
                </c:pt>
                <c:pt idx="62">
                  <c:v>3604.6999999999994</c:v>
                </c:pt>
                <c:pt idx="63">
                  <c:v>3662.5999999999995</c:v>
                </c:pt>
                <c:pt idx="64">
                  <c:v>3720.4999999999995</c:v>
                </c:pt>
                <c:pt idx="65">
                  <c:v>3733.7999999999997</c:v>
                </c:pt>
                <c:pt idx="66">
                  <c:v>3747.1</c:v>
                </c:pt>
                <c:pt idx="67">
                  <c:v>3760.4</c:v>
                </c:pt>
                <c:pt idx="68">
                  <c:v>3773.7000000000003</c:v>
                </c:pt>
                <c:pt idx="69">
                  <c:v>3787.0000000000005</c:v>
                </c:pt>
                <c:pt idx="70">
                  <c:v>3800.3000000000006</c:v>
                </c:pt>
                <c:pt idx="71">
                  <c:v>3831.1000000000008</c:v>
                </c:pt>
                <c:pt idx="72">
                  <c:v>3861.900000000001</c:v>
                </c:pt>
                <c:pt idx="73">
                  <c:v>3892.7000000000012</c:v>
                </c:pt>
                <c:pt idx="74">
                  <c:v>3934.2000000000012</c:v>
                </c:pt>
                <c:pt idx="75">
                  <c:v>3958.2000000000012</c:v>
                </c:pt>
                <c:pt idx="76">
                  <c:v>3982.2000000000012</c:v>
                </c:pt>
                <c:pt idx="77">
                  <c:v>4006.2000000000012</c:v>
                </c:pt>
                <c:pt idx="78">
                  <c:v>4030.2000000000012</c:v>
                </c:pt>
                <c:pt idx="79">
                  <c:v>4054.2000000000012</c:v>
                </c:pt>
                <c:pt idx="80">
                  <c:v>4067.5000000000014</c:v>
                </c:pt>
                <c:pt idx="81">
                  <c:v>4080.8000000000015</c:v>
                </c:pt>
                <c:pt idx="82">
                  <c:v>4094.1000000000017</c:v>
                </c:pt>
                <c:pt idx="83">
                  <c:v>4107.4000000000015</c:v>
                </c:pt>
                <c:pt idx="84">
                  <c:v>4120.7000000000016</c:v>
                </c:pt>
                <c:pt idx="85">
                  <c:v>4134.0000000000018</c:v>
                </c:pt>
                <c:pt idx="86">
                  <c:v>4135.300000000002</c:v>
                </c:pt>
                <c:pt idx="87">
                  <c:v>4136.6000000000022</c:v>
                </c:pt>
                <c:pt idx="88">
                  <c:v>4137.9000000000024</c:v>
                </c:pt>
                <c:pt idx="89">
                  <c:v>4139.2000000000025</c:v>
                </c:pt>
                <c:pt idx="90">
                  <c:v>4140.5000000000027</c:v>
                </c:pt>
                <c:pt idx="91">
                  <c:v>4141.8000000000029</c:v>
                </c:pt>
                <c:pt idx="92">
                  <c:v>4143.1000000000031</c:v>
                </c:pt>
                <c:pt idx="93">
                  <c:v>4144.4000000000033</c:v>
                </c:pt>
                <c:pt idx="94">
                  <c:v>4145.7000000000035</c:v>
                </c:pt>
                <c:pt idx="95">
                  <c:v>4147.0000000000036</c:v>
                </c:pt>
                <c:pt idx="96">
                  <c:v>4148.3000000000038</c:v>
                </c:pt>
                <c:pt idx="97">
                  <c:v>4149.600000000004</c:v>
                </c:pt>
                <c:pt idx="98">
                  <c:v>4150.9000000000042</c:v>
                </c:pt>
                <c:pt idx="99">
                  <c:v>4152.2000000000044</c:v>
                </c:pt>
                <c:pt idx="100">
                  <c:v>4153.5000000000045</c:v>
                </c:pt>
                <c:pt idx="101">
                  <c:v>4154.8000000000047</c:v>
                </c:pt>
                <c:pt idx="102">
                  <c:v>4156.1000000000049</c:v>
                </c:pt>
                <c:pt idx="103">
                  <c:v>4157.4000000000051</c:v>
                </c:pt>
                <c:pt idx="104">
                  <c:v>4158.7000000000053</c:v>
                </c:pt>
                <c:pt idx="105">
                  <c:v>4160.0000000000055</c:v>
                </c:pt>
                <c:pt idx="106">
                  <c:v>4161.3000000000056</c:v>
                </c:pt>
                <c:pt idx="107">
                  <c:v>4162.6000000000058</c:v>
                </c:pt>
                <c:pt idx="108">
                  <c:v>4163.900000000006</c:v>
                </c:pt>
                <c:pt idx="109">
                  <c:v>4165.2000000000062</c:v>
                </c:pt>
                <c:pt idx="110">
                  <c:v>4166.5000000000064</c:v>
                </c:pt>
                <c:pt idx="111">
                  <c:v>4167.8000000000065</c:v>
                </c:pt>
                <c:pt idx="112">
                  <c:v>4169.1000000000067</c:v>
                </c:pt>
                <c:pt idx="113">
                  <c:v>4170.4000000000069</c:v>
                </c:pt>
                <c:pt idx="114">
                  <c:v>4171.7000000000071</c:v>
                </c:pt>
                <c:pt idx="115">
                  <c:v>4173.0000000000073</c:v>
                </c:pt>
                <c:pt idx="116">
                  <c:v>4174.3000000000075</c:v>
                </c:pt>
                <c:pt idx="117">
                  <c:v>4175.6000000000076</c:v>
                </c:pt>
                <c:pt idx="118">
                  <c:v>4176.9000000000078</c:v>
                </c:pt>
                <c:pt idx="119">
                  <c:v>4177.6000000000076</c:v>
                </c:pt>
                <c:pt idx="120">
                  <c:v>4178.3000000000075</c:v>
                </c:pt>
                <c:pt idx="121">
                  <c:v>4179.0000000000073</c:v>
                </c:pt>
                <c:pt idx="122">
                  <c:v>4179.7000000000071</c:v>
                </c:pt>
                <c:pt idx="123">
                  <c:v>4180.4000000000069</c:v>
                </c:pt>
                <c:pt idx="124">
                  <c:v>4181.1000000000067</c:v>
                </c:pt>
                <c:pt idx="125">
                  <c:v>4181.8000000000065</c:v>
                </c:pt>
                <c:pt idx="126">
                  <c:v>4182.5000000000064</c:v>
                </c:pt>
                <c:pt idx="127">
                  <c:v>4183.2000000000062</c:v>
                </c:pt>
                <c:pt idx="128">
                  <c:v>4183.900000000006</c:v>
                </c:pt>
                <c:pt idx="129">
                  <c:v>4184.6000000000058</c:v>
                </c:pt>
                <c:pt idx="130">
                  <c:v>4185.3000000000056</c:v>
                </c:pt>
                <c:pt idx="131">
                  <c:v>4186.0000000000055</c:v>
                </c:pt>
                <c:pt idx="132">
                  <c:v>4186.7000000000053</c:v>
                </c:pt>
                <c:pt idx="133">
                  <c:v>4187.4000000000051</c:v>
                </c:pt>
                <c:pt idx="134">
                  <c:v>4188.1000000000049</c:v>
                </c:pt>
                <c:pt idx="135">
                  <c:v>4188.8000000000047</c:v>
                </c:pt>
                <c:pt idx="136">
                  <c:v>4189.5000000000045</c:v>
                </c:pt>
                <c:pt idx="137">
                  <c:v>4190.2000000000044</c:v>
                </c:pt>
                <c:pt idx="138">
                  <c:v>4190.9000000000042</c:v>
                </c:pt>
                <c:pt idx="139">
                  <c:v>4195.2000000000044</c:v>
                </c:pt>
                <c:pt idx="140">
                  <c:v>4199.5000000000045</c:v>
                </c:pt>
                <c:pt idx="141">
                  <c:v>4203.8000000000047</c:v>
                </c:pt>
                <c:pt idx="142">
                  <c:v>4208.1000000000049</c:v>
                </c:pt>
                <c:pt idx="143">
                  <c:v>4212.4000000000051</c:v>
                </c:pt>
                <c:pt idx="144">
                  <c:v>4213.1000000000049</c:v>
                </c:pt>
                <c:pt idx="145">
                  <c:v>4213.8000000000047</c:v>
                </c:pt>
                <c:pt idx="146">
                  <c:v>4214.5000000000045</c:v>
                </c:pt>
                <c:pt idx="147">
                  <c:v>4215.2000000000044</c:v>
                </c:pt>
                <c:pt idx="148">
                  <c:v>4215.9000000000042</c:v>
                </c:pt>
                <c:pt idx="149">
                  <c:v>4216.600000000004</c:v>
                </c:pt>
                <c:pt idx="150">
                  <c:v>4217.3000000000038</c:v>
                </c:pt>
                <c:pt idx="151">
                  <c:v>4218.0000000000036</c:v>
                </c:pt>
                <c:pt idx="152">
                  <c:v>4218.7000000000035</c:v>
                </c:pt>
                <c:pt idx="153">
                  <c:v>4219.4000000000033</c:v>
                </c:pt>
                <c:pt idx="154">
                  <c:v>4220.1000000000031</c:v>
                </c:pt>
                <c:pt idx="155">
                  <c:v>4220.8000000000029</c:v>
                </c:pt>
                <c:pt idx="156">
                  <c:v>4221.5000000000027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77-48F7-AB53-9E90C7F2C94D}"/>
            </c:ext>
          </c:extLst>
        </c:ser>
        <c:ser>
          <c:idx val="1"/>
          <c:order val="1"/>
          <c:tx>
            <c:strRef>
              <c:f>Hoja1!$C$47</c:f>
              <c:strCache>
                <c:ptCount val="1"/>
                <c:pt idx="0">
                  <c:v>Forecast Nivelado</c:v>
                </c:pt>
              </c:strCache>
            </c:strRef>
          </c:tx>
          <c:spPr>
            <a:ln w="19050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Hoja1!$A$48:$A$204</c:f>
              <c:numCache>
                <c:formatCode>m/d/yyyy</c:formatCode>
                <c:ptCount val="157"/>
                <c:pt idx="0">
                  <c:v>46053</c:v>
                </c:pt>
                <c:pt idx="1">
                  <c:v>46054</c:v>
                </c:pt>
                <c:pt idx="2">
                  <c:v>46055</c:v>
                </c:pt>
                <c:pt idx="3">
                  <c:v>46056</c:v>
                </c:pt>
                <c:pt idx="4">
                  <c:v>46057</c:v>
                </c:pt>
                <c:pt idx="5">
                  <c:v>46058</c:v>
                </c:pt>
                <c:pt idx="6">
                  <c:v>46059</c:v>
                </c:pt>
                <c:pt idx="7">
                  <c:v>46060</c:v>
                </c:pt>
                <c:pt idx="8">
                  <c:v>46061</c:v>
                </c:pt>
                <c:pt idx="9">
                  <c:v>46062</c:v>
                </c:pt>
                <c:pt idx="10">
                  <c:v>46063</c:v>
                </c:pt>
                <c:pt idx="11">
                  <c:v>46064</c:v>
                </c:pt>
                <c:pt idx="12">
                  <c:v>46065</c:v>
                </c:pt>
                <c:pt idx="13">
                  <c:v>46066</c:v>
                </c:pt>
                <c:pt idx="14">
                  <c:v>46067</c:v>
                </c:pt>
                <c:pt idx="15">
                  <c:v>46068</c:v>
                </c:pt>
                <c:pt idx="16">
                  <c:v>46069</c:v>
                </c:pt>
                <c:pt idx="17">
                  <c:v>46070</c:v>
                </c:pt>
                <c:pt idx="18">
                  <c:v>46071</c:v>
                </c:pt>
                <c:pt idx="19">
                  <c:v>46072</c:v>
                </c:pt>
                <c:pt idx="20">
                  <c:v>46073</c:v>
                </c:pt>
                <c:pt idx="21">
                  <c:v>46074</c:v>
                </c:pt>
                <c:pt idx="22">
                  <c:v>46075</c:v>
                </c:pt>
                <c:pt idx="23">
                  <c:v>46076</c:v>
                </c:pt>
                <c:pt idx="24">
                  <c:v>46077</c:v>
                </c:pt>
                <c:pt idx="25">
                  <c:v>46078</c:v>
                </c:pt>
                <c:pt idx="26">
                  <c:v>46079</c:v>
                </c:pt>
                <c:pt idx="27">
                  <c:v>46080</c:v>
                </c:pt>
                <c:pt idx="28">
                  <c:v>46081</c:v>
                </c:pt>
                <c:pt idx="29">
                  <c:v>46082</c:v>
                </c:pt>
                <c:pt idx="30">
                  <c:v>46083</c:v>
                </c:pt>
                <c:pt idx="31">
                  <c:v>46084</c:v>
                </c:pt>
                <c:pt idx="32">
                  <c:v>46085</c:v>
                </c:pt>
                <c:pt idx="33">
                  <c:v>46086</c:v>
                </c:pt>
                <c:pt idx="34">
                  <c:v>46087</c:v>
                </c:pt>
                <c:pt idx="35">
                  <c:v>46088</c:v>
                </c:pt>
                <c:pt idx="36">
                  <c:v>46089</c:v>
                </c:pt>
                <c:pt idx="37">
                  <c:v>46090</c:v>
                </c:pt>
                <c:pt idx="38">
                  <c:v>46091</c:v>
                </c:pt>
                <c:pt idx="39">
                  <c:v>46092</c:v>
                </c:pt>
                <c:pt idx="40">
                  <c:v>46093</c:v>
                </c:pt>
                <c:pt idx="41">
                  <c:v>46094</c:v>
                </c:pt>
                <c:pt idx="42">
                  <c:v>46095</c:v>
                </c:pt>
                <c:pt idx="43">
                  <c:v>46096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46102</c:v>
                </c:pt>
                <c:pt idx="50">
                  <c:v>46103</c:v>
                </c:pt>
                <c:pt idx="51">
                  <c:v>46104</c:v>
                </c:pt>
                <c:pt idx="52">
                  <c:v>46105</c:v>
                </c:pt>
                <c:pt idx="53">
                  <c:v>46106</c:v>
                </c:pt>
                <c:pt idx="54">
                  <c:v>46107</c:v>
                </c:pt>
                <c:pt idx="55">
                  <c:v>46108</c:v>
                </c:pt>
                <c:pt idx="56">
                  <c:v>46109</c:v>
                </c:pt>
                <c:pt idx="57">
                  <c:v>46110</c:v>
                </c:pt>
                <c:pt idx="58">
                  <c:v>46111</c:v>
                </c:pt>
                <c:pt idx="59">
                  <c:v>46112</c:v>
                </c:pt>
                <c:pt idx="60">
                  <c:v>46113</c:v>
                </c:pt>
                <c:pt idx="61">
                  <c:v>46114</c:v>
                </c:pt>
                <c:pt idx="62">
                  <c:v>46115</c:v>
                </c:pt>
                <c:pt idx="63">
                  <c:v>46116</c:v>
                </c:pt>
                <c:pt idx="64">
                  <c:v>46117</c:v>
                </c:pt>
                <c:pt idx="65">
                  <c:v>46118</c:v>
                </c:pt>
                <c:pt idx="66">
                  <c:v>46119</c:v>
                </c:pt>
                <c:pt idx="67">
                  <c:v>46120</c:v>
                </c:pt>
                <c:pt idx="68">
                  <c:v>46121</c:v>
                </c:pt>
                <c:pt idx="69">
                  <c:v>46122</c:v>
                </c:pt>
                <c:pt idx="70">
                  <c:v>46123</c:v>
                </c:pt>
                <c:pt idx="71">
                  <c:v>46124</c:v>
                </c:pt>
                <c:pt idx="72">
                  <c:v>46125</c:v>
                </c:pt>
                <c:pt idx="73">
                  <c:v>46126</c:v>
                </c:pt>
                <c:pt idx="74">
                  <c:v>46127</c:v>
                </c:pt>
                <c:pt idx="75">
                  <c:v>46128</c:v>
                </c:pt>
                <c:pt idx="76">
                  <c:v>46129</c:v>
                </c:pt>
                <c:pt idx="77">
                  <c:v>46130</c:v>
                </c:pt>
                <c:pt idx="78">
                  <c:v>46131</c:v>
                </c:pt>
                <c:pt idx="79">
                  <c:v>46132</c:v>
                </c:pt>
                <c:pt idx="80">
                  <c:v>46133</c:v>
                </c:pt>
                <c:pt idx="81">
                  <c:v>46134</c:v>
                </c:pt>
                <c:pt idx="82">
                  <c:v>46135</c:v>
                </c:pt>
                <c:pt idx="83">
                  <c:v>46136</c:v>
                </c:pt>
                <c:pt idx="84">
                  <c:v>46137</c:v>
                </c:pt>
                <c:pt idx="85">
                  <c:v>46138</c:v>
                </c:pt>
                <c:pt idx="86">
                  <c:v>46139</c:v>
                </c:pt>
                <c:pt idx="87">
                  <c:v>46140</c:v>
                </c:pt>
                <c:pt idx="88">
                  <c:v>46141</c:v>
                </c:pt>
                <c:pt idx="89">
                  <c:v>46142</c:v>
                </c:pt>
                <c:pt idx="90">
                  <c:v>46143</c:v>
                </c:pt>
                <c:pt idx="91">
                  <c:v>46144</c:v>
                </c:pt>
                <c:pt idx="92">
                  <c:v>46145</c:v>
                </c:pt>
                <c:pt idx="93">
                  <c:v>46146</c:v>
                </c:pt>
                <c:pt idx="94">
                  <c:v>46147</c:v>
                </c:pt>
                <c:pt idx="95">
                  <c:v>46148</c:v>
                </c:pt>
                <c:pt idx="96">
                  <c:v>46149</c:v>
                </c:pt>
                <c:pt idx="97">
                  <c:v>46150</c:v>
                </c:pt>
                <c:pt idx="98">
                  <c:v>46151</c:v>
                </c:pt>
                <c:pt idx="99">
                  <c:v>46152</c:v>
                </c:pt>
                <c:pt idx="100">
                  <c:v>46153</c:v>
                </c:pt>
                <c:pt idx="101">
                  <c:v>46154</c:v>
                </c:pt>
                <c:pt idx="102">
                  <c:v>46155</c:v>
                </c:pt>
                <c:pt idx="103">
                  <c:v>46156</c:v>
                </c:pt>
                <c:pt idx="104">
                  <c:v>46157</c:v>
                </c:pt>
                <c:pt idx="105">
                  <c:v>46158</c:v>
                </c:pt>
                <c:pt idx="106">
                  <c:v>46159</c:v>
                </c:pt>
                <c:pt idx="107">
                  <c:v>46160</c:v>
                </c:pt>
                <c:pt idx="108">
                  <c:v>46161</c:v>
                </c:pt>
                <c:pt idx="109">
                  <c:v>46162</c:v>
                </c:pt>
                <c:pt idx="110">
                  <c:v>46163</c:v>
                </c:pt>
                <c:pt idx="111">
                  <c:v>46164</c:v>
                </c:pt>
                <c:pt idx="112">
                  <c:v>46165</c:v>
                </c:pt>
                <c:pt idx="113">
                  <c:v>46166</c:v>
                </c:pt>
                <c:pt idx="114">
                  <c:v>46167</c:v>
                </c:pt>
                <c:pt idx="115">
                  <c:v>46168</c:v>
                </c:pt>
                <c:pt idx="116">
                  <c:v>46169</c:v>
                </c:pt>
                <c:pt idx="117">
                  <c:v>46170</c:v>
                </c:pt>
                <c:pt idx="118">
                  <c:v>46171</c:v>
                </c:pt>
                <c:pt idx="119">
                  <c:v>46172</c:v>
                </c:pt>
                <c:pt idx="120">
                  <c:v>46173</c:v>
                </c:pt>
                <c:pt idx="121">
                  <c:v>46174</c:v>
                </c:pt>
                <c:pt idx="122">
                  <c:v>46175</c:v>
                </c:pt>
                <c:pt idx="123">
                  <c:v>46176</c:v>
                </c:pt>
                <c:pt idx="124">
                  <c:v>46177</c:v>
                </c:pt>
                <c:pt idx="125">
                  <c:v>46178</c:v>
                </c:pt>
                <c:pt idx="126">
                  <c:v>46179</c:v>
                </c:pt>
                <c:pt idx="127">
                  <c:v>46180</c:v>
                </c:pt>
                <c:pt idx="128">
                  <c:v>46181</c:v>
                </c:pt>
                <c:pt idx="129">
                  <c:v>46182</c:v>
                </c:pt>
                <c:pt idx="130">
                  <c:v>46183</c:v>
                </c:pt>
                <c:pt idx="131">
                  <c:v>46184</c:v>
                </c:pt>
                <c:pt idx="132">
                  <c:v>46185</c:v>
                </c:pt>
                <c:pt idx="133">
                  <c:v>46186</c:v>
                </c:pt>
                <c:pt idx="134">
                  <c:v>46187</c:v>
                </c:pt>
                <c:pt idx="135">
                  <c:v>46188</c:v>
                </c:pt>
                <c:pt idx="136">
                  <c:v>46189</c:v>
                </c:pt>
                <c:pt idx="137">
                  <c:v>46190</c:v>
                </c:pt>
                <c:pt idx="138">
                  <c:v>46191</c:v>
                </c:pt>
                <c:pt idx="139">
                  <c:v>46192</c:v>
                </c:pt>
                <c:pt idx="140">
                  <c:v>46193</c:v>
                </c:pt>
                <c:pt idx="141">
                  <c:v>46194</c:v>
                </c:pt>
                <c:pt idx="142">
                  <c:v>46195</c:v>
                </c:pt>
                <c:pt idx="143">
                  <c:v>46196</c:v>
                </c:pt>
                <c:pt idx="144">
                  <c:v>46197</c:v>
                </c:pt>
                <c:pt idx="145">
                  <c:v>46198</c:v>
                </c:pt>
                <c:pt idx="146">
                  <c:v>46199</c:v>
                </c:pt>
                <c:pt idx="147">
                  <c:v>46200</c:v>
                </c:pt>
                <c:pt idx="148">
                  <c:v>46201</c:v>
                </c:pt>
                <c:pt idx="149">
                  <c:v>46202</c:v>
                </c:pt>
                <c:pt idx="150">
                  <c:v>46203</c:v>
                </c:pt>
                <c:pt idx="151">
                  <c:v>46204</c:v>
                </c:pt>
                <c:pt idx="152">
                  <c:v>46205</c:v>
                </c:pt>
                <c:pt idx="153">
                  <c:v>46206</c:v>
                </c:pt>
                <c:pt idx="154">
                  <c:v>46207</c:v>
                </c:pt>
                <c:pt idx="155">
                  <c:v>46208</c:v>
                </c:pt>
                <c:pt idx="156">
                  <c:v>46209</c:v>
                </c:pt>
              </c:numCache>
            </c:numRef>
          </c:cat>
          <c:val>
            <c:numRef>
              <c:f>Hoja1!$C$48:$C$204</c:f>
              <c:numCache>
                <c:formatCode>General</c:formatCode>
                <c:ptCount val="157"/>
                <c:pt idx="0">
                  <c:v>0</c:v>
                </c:pt>
                <c:pt idx="1">
                  <c:v>38</c:v>
                </c:pt>
                <c:pt idx="2">
                  <c:v>76</c:v>
                </c:pt>
                <c:pt idx="3">
                  <c:v>114</c:v>
                </c:pt>
                <c:pt idx="4">
                  <c:v>152</c:v>
                </c:pt>
                <c:pt idx="5">
                  <c:v>190</c:v>
                </c:pt>
                <c:pt idx="6">
                  <c:v>228</c:v>
                </c:pt>
                <c:pt idx="7">
                  <c:v>266</c:v>
                </c:pt>
                <c:pt idx="8">
                  <c:v>304</c:v>
                </c:pt>
                <c:pt idx="9">
                  <c:v>342</c:v>
                </c:pt>
                <c:pt idx="10">
                  <c:v>380</c:v>
                </c:pt>
                <c:pt idx="11">
                  <c:v>418</c:v>
                </c:pt>
                <c:pt idx="12">
                  <c:v>456</c:v>
                </c:pt>
                <c:pt idx="13">
                  <c:v>494</c:v>
                </c:pt>
                <c:pt idx="14">
                  <c:v>532</c:v>
                </c:pt>
                <c:pt idx="15">
                  <c:v>570</c:v>
                </c:pt>
                <c:pt idx="16">
                  <c:v>608</c:v>
                </c:pt>
                <c:pt idx="17">
                  <c:v>646</c:v>
                </c:pt>
                <c:pt idx="18">
                  <c:v>684</c:v>
                </c:pt>
                <c:pt idx="19">
                  <c:v>722</c:v>
                </c:pt>
                <c:pt idx="20">
                  <c:v>760</c:v>
                </c:pt>
                <c:pt idx="21">
                  <c:v>798</c:v>
                </c:pt>
                <c:pt idx="22">
                  <c:v>831</c:v>
                </c:pt>
                <c:pt idx="23">
                  <c:v>864</c:v>
                </c:pt>
                <c:pt idx="24">
                  <c:v>897</c:v>
                </c:pt>
                <c:pt idx="25">
                  <c:v>930</c:v>
                </c:pt>
                <c:pt idx="26">
                  <c:v>963</c:v>
                </c:pt>
                <c:pt idx="27">
                  <c:v>996</c:v>
                </c:pt>
                <c:pt idx="28">
                  <c:v>1029</c:v>
                </c:pt>
                <c:pt idx="29">
                  <c:v>1062</c:v>
                </c:pt>
                <c:pt idx="30">
                  <c:v>1095</c:v>
                </c:pt>
                <c:pt idx="31">
                  <c:v>1128</c:v>
                </c:pt>
                <c:pt idx="32">
                  <c:v>1161</c:v>
                </c:pt>
                <c:pt idx="33">
                  <c:v>1194</c:v>
                </c:pt>
                <c:pt idx="34">
                  <c:v>1226</c:v>
                </c:pt>
                <c:pt idx="35">
                  <c:v>1258</c:v>
                </c:pt>
                <c:pt idx="36">
                  <c:v>1290</c:v>
                </c:pt>
                <c:pt idx="37">
                  <c:v>1322</c:v>
                </c:pt>
                <c:pt idx="38">
                  <c:v>1354</c:v>
                </c:pt>
                <c:pt idx="39">
                  <c:v>1386</c:v>
                </c:pt>
                <c:pt idx="40">
                  <c:v>1418</c:v>
                </c:pt>
                <c:pt idx="41">
                  <c:v>1457</c:v>
                </c:pt>
                <c:pt idx="42">
                  <c:v>1496</c:v>
                </c:pt>
                <c:pt idx="43">
                  <c:v>1544</c:v>
                </c:pt>
                <c:pt idx="44">
                  <c:v>1592</c:v>
                </c:pt>
                <c:pt idx="45">
                  <c:v>1640</c:v>
                </c:pt>
                <c:pt idx="46">
                  <c:v>1688</c:v>
                </c:pt>
                <c:pt idx="47">
                  <c:v>1736</c:v>
                </c:pt>
                <c:pt idx="48">
                  <c:v>1784</c:v>
                </c:pt>
                <c:pt idx="49">
                  <c:v>1832</c:v>
                </c:pt>
                <c:pt idx="50">
                  <c:v>1880</c:v>
                </c:pt>
                <c:pt idx="51">
                  <c:v>1928</c:v>
                </c:pt>
                <c:pt idx="52">
                  <c:v>1976</c:v>
                </c:pt>
                <c:pt idx="53">
                  <c:v>2024</c:v>
                </c:pt>
                <c:pt idx="54">
                  <c:v>2065</c:v>
                </c:pt>
                <c:pt idx="55">
                  <c:v>2106</c:v>
                </c:pt>
                <c:pt idx="56">
                  <c:v>2147</c:v>
                </c:pt>
                <c:pt idx="57">
                  <c:v>2188</c:v>
                </c:pt>
                <c:pt idx="58">
                  <c:v>2217</c:v>
                </c:pt>
                <c:pt idx="59">
                  <c:v>2257</c:v>
                </c:pt>
                <c:pt idx="60">
                  <c:v>2297</c:v>
                </c:pt>
                <c:pt idx="61">
                  <c:v>2337</c:v>
                </c:pt>
                <c:pt idx="62">
                  <c:v>2385</c:v>
                </c:pt>
                <c:pt idx="63">
                  <c:v>2433</c:v>
                </c:pt>
                <c:pt idx="64">
                  <c:v>2481</c:v>
                </c:pt>
                <c:pt idx="65">
                  <c:v>2529</c:v>
                </c:pt>
                <c:pt idx="66">
                  <c:v>2577</c:v>
                </c:pt>
                <c:pt idx="67">
                  <c:v>2625</c:v>
                </c:pt>
                <c:pt idx="68">
                  <c:v>2695</c:v>
                </c:pt>
                <c:pt idx="69">
                  <c:v>2765</c:v>
                </c:pt>
                <c:pt idx="70">
                  <c:v>2835</c:v>
                </c:pt>
                <c:pt idx="71">
                  <c:v>2916</c:v>
                </c:pt>
                <c:pt idx="72">
                  <c:v>2997</c:v>
                </c:pt>
                <c:pt idx="73">
                  <c:v>3078</c:v>
                </c:pt>
                <c:pt idx="74">
                  <c:v>3159</c:v>
                </c:pt>
                <c:pt idx="75">
                  <c:v>3196</c:v>
                </c:pt>
                <c:pt idx="76">
                  <c:v>3229</c:v>
                </c:pt>
                <c:pt idx="77">
                  <c:v>3262</c:v>
                </c:pt>
                <c:pt idx="78">
                  <c:v>3295</c:v>
                </c:pt>
                <c:pt idx="79">
                  <c:v>3321</c:v>
                </c:pt>
                <c:pt idx="80">
                  <c:v>3385</c:v>
                </c:pt>
                <c:pt idx="81">
                  <c:v>3453</c:v>
                </c:pt>
                <c:pt idx="82">
                  <c:v>3533</c:v>
                </c:pt>
                <c:pt idx="83">
                  <c:v>3564</c:v>
                </c:pt>
                <c:pt idx="84">
                  <c:v>3589</c:v>
                </c:pt>
                <c:pt idx="85">
                  <c:v>3642</c:v>
                </c:pt>
                <c:pt idx="86">
                  <c:v>3695</c:v>
                </c:pt>
                <c:pt idx="87">
                  <c:v>3743</c:v>
                </c:pt>
                <c:pt idx="88">
                  <c:v>3791</c:v>
                </c:pt>
                <c:pt idx="89">
                  <c:v>3839</c:v>
                </c:pt>
                <c:pt idx="90">
                  <c:v>3887</c:v>
                </c:pt>
                <c:pt idx="91">
                  <c:v>3935</c:v>
                </c:pt>
                <c:pt idx="92">
                  <c:v>3983</c:v>
                </c:pt>
                <c:pt idx="93">
                  <c:v>4031</c:v>
                </c:pt>
                <c:pt idx="94">
                  <c:v>4079</c:v>
                </c:pt>
                <c:pt idx="95">
                  <c:v>4127</c:v>
                </c:pt>
                <c:pt idx="96">
                  <c:v>4175</c:v>
                </c:pt>
                <c:pt idx="97">
                  <c:v>4223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277-48F7-AB53-9E90C7F2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1636079"/>
        <c:axId val="751633679"/>
      </c:lineChart>
      <c:dateAx>
        <c:axId val="751636079"/>
        <c:scaling>
          <c:orientation val="minMax"/>
        </c:scaling>
        <c:delete val="0"/>
        <c:axPos val="b"/>
        <c:numFmt formatCode="dd/mm/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51633679"/>
        <c:crosses val="autoZero"/>
        <c:auto val="1"/>
        <c:lblOffset val="100"/>
        <c:baseTimeUnit val="days"/>
      </c:dateAx>
      <c:valAx>
        <c:axId val="75163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51636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FBE3A73-3CA4-7FC0-D774-827C81F55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E1620398-B90A-DAF7-A236-E829DEEBF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A7256F16-99B6-4ED6-3D67-3EDE84C6F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4666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CAC09B32-E048-487E-B49D-ECD708D3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>
            <a:extLst>
              <a:ext uri="{FF2B5EF4-FFF2-40B4-BE49-F238E27FC236}">
                <a16:creationId xmlns:a16="http://schemas.microsoft.com/office/drawing/2014/main" id="{750EF720-0C89-25D2-8CC2-4543E3968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43898766-4853-BC81-9EE1-23FDDDA74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036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91" name="Google Shape;91;p14" descr="image.pn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5CD5358-8065-5E82-CEF3-ED6F5B485D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0398" y="165100"/>
            <a:ext cx="1600200" cy="546100"/>
          </a:xfrm>
          <a:prstGeom prst="rect">
            <a:avLst/>
          </a:prstGeom>
        </p:spPr>
      </p:pic>
      <p:pic>
        <p:nvPicPr>
          <p:cNvPr id="40" name="Google Shape;40;p25"/>
          <p:cNvPicPr preferRelativeResize="0"/>
          <p:nvPr userDrawn="1"/>
        </p:nvPicPr>
        <p:blipFill rotWithShape="1">
          <a:blip r:embed="rId4">
            <a:alphaModFix/>
          </a:blip>
          <a:srcRect l="87012" b="78253"/>
          <a:stretch>
            <a:fillRect/>
          </a:stretch>
        </p:blipFill>
        <p:spPr>
          <a:xfrm>
            <a:off x="10945090" y="-221026"/>
            <a:ext cx="1461655" cy="119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095375" y="2249082"/>
            <a:ext cx="1000125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80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Análisis de Objeción al </a:t>
            </a:r>
            <a:r>
              <a:rPr lang="es-CL" sz="4800" b="1" i="0" u="none" strike="noStrike" cap="none" noProof="0" dirty="0" err="1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Forecast</a:t>
            </a:r>
            <a:r>
              <a:rPr lang="es-CL" sz="480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 Montec</a:t>
            </a:r>
            <a:endParaRPr lang="es-CL" noProof="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4072830"/>
            <a:ext cx="9525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Simulación Nivelada con Rendimiento de Línea Base — Evaluación de Exceso Injustificado</a:t>
            </a:r>
            <a:endParaRPr lang="es-C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C7C5A00-B356-A170-CCB9-D9AE97FA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CBA46A5-8DF8-629F-6C57-6AC6FB741165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Ventanas mensuales reportadas por Montec</a:t>
            </a:r>
            <a:endParaRPr lang="es-CL" noProof="0"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5F056036-65FA-E842-0594-BC40AC710526}"/>
              </a:ext>
            </a:extLst>
          </p:cNvPr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2;p15">
            <a:extLst>
              <a:ext uri="{FF2B5EF4-FFF2-40B4-BE49-F238E27FC236}">
                <a16:creationId xmlns:a16="http://schemas.microsoft.com/office/drawing/2014/main" id="{8BB45320-7C38-DF9E-7580-45DEF21AB626}"/>
              </a:ext>
            </a:extLst>
          </p:cNvPr>
          <p:cNvSpPr txBox="1"/>
          <p:nvPr/>
        </p:nvSpPr>
        <p:spPr>
          <a:xfrm>
            <a:off x="223885" y="1910848"/>
            <a:ext cx="3429000" cy="413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En el grafico se puede observar fecha que ha sido informada como finalización prevista del Acueducto en los diferentes informe mensual. </a:t>
            </a: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1200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Respecto a la </a:t>
            </a:r>
            <a:r>
              <a:rPr lang="es-CL" sz="120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aprobación de la línea base en el primer reporte del cronograma de Primavera P6 se informo </a:t>
            </a:r>
            <a:r>
              <a:rPr lang="es-CL" sz="1200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r>
              <a:rPr lang="es-CL" sz="12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168</a:t>
            </a:r>
            <a:r>
              <a:rPr lang="es-CL" sz="120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días de desplazamiento.</a:t>
            </a:r>
          </a:p>
          <a:p>
            <a:pPr marL="285750" lvl="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s-CL" sz="120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Caba resaltar que desde el día 31-05-2025 hasta el día 31-10-2025 hay</a:t>
            </a:r>
            <a:r>
              <a:rPr lang="es-CL" sz="1200" b="1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 153 </a:t>
            </a:r>
            <a:r>
              <a:rPr lang="es-CL" sz="120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días corridos. </a:t>
            </a:r>
            <a:r>
              <a:rPr lang="es-CL" sz="1200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Este lapso representa el desplazamiento máximo teóricamente posible, incluso en el caso extremo de que el proyecto no hubiese registrado ningún avance desde la Línea Base hasta dicha actualización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2445A34B-83BE-F88C-C70A-6DAA0968CF9E}"/>
              </a:ext>
            </a:extLst>
          </p:cNvPr>
          <p:cNvGrpSpPr/>
          <p:nvPr/>
        </p:nvGrpSpPr>
        <p:grpSpPr>
          <a:xfrm>
            <a:off x="4037118" y="1830970"/>
            <a:ext cx="8025590" cy="4505671"/>
            <a:chOff x="3782961" y="1456906"/>
            <a:chExt cx="8025590" cy="4121167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6C379D18-07A9-065B-B776-24DCCCABA2BF}"/>
                </a:ext>
              </a:extLst>
            </p:cNvPr>
            <p:cNvGrpSpPr/>
            <p:nvPr/>
          </p:nvGrpSpPr>
          <p:grpSpPr>
            <a:xfrm>
              <a:off x="3782961" y="1456906"/>
              <a:ext cx="8025590" cy="4121167"/>
              <a:chOff x="3782961" y="1343025"/>
              <a:chExt cx="8025590" cy="4121167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3330A93B-0E3E-18D5-FEA4-399BF381C34F}"/>
                  </a:ext>
                </a:extLst>
              </p:cNvPr>
              <p:cNvGrpSpPr/>
              <p:nvPr/>
            </p:nvGrpSpPr>
            <p:grpSpPr>
              <a:xfrm>
                <a:off x="3782961" y="1343025"/>
                <a:ext cx="8025590" cy="4121167"/>
                <a:chOff x="4175943" y="1815059"/>
                <a:chExt cx="7780091" cy="3871367"/>
              </a:xfrm>
            </p:grpSpPr>
            <p:pic>
              <p:nvPicPr>
                <p:cNvPr id="3" name="Imagen 2">
                  <a:extLst>
                    <a:ext uri="{FF2B5EF4-FFF2-40B4-BE49-F238E27FC236}">
                      <a16:creationId xmlns:a16="http://schemas.microsoft.com/office/drawing/2014/main" id="{C715FB44-42D4-678F-7B8E-FAE191E9E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75943" y="1815059"/>
                  <a:ext cx="7780091" cy="3871367"/>
                </a:xfrm>
                <a:prstGeom prst="rect">
                  <a:avLst/>
                </a:prstGeom>
              </p:spPr>
            </p:pic>
            <p:cxnSp>
              <p:nvCxnSpPr>
                <p:cNvPr id="16" name="Conector recto 15">
                  <a:extLst>
                    <a:ext uri="{FF2B5EF4-FFF2-40B4-BE49-F238E27FC236}">
                      <a16:creationId xmlns:a16="http://schemas.microsoft.com/office/drawing/2014/main" id="{E107888D-D160-92C9-D144-5510A5578F3A}"/>
                    </a:ext>
                  </a:extLst>
                </p:cNvPr>
                <p:cNvCxnSpPr/>
                <p:nvPr/>
              </p:nvCxnSpPr>
              <p:spPr>
                <a:xfrm>
                  <a:off x="7034981" y="1815059"/>
                  <a:ext cx="0" cy="3811451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Conector recto 16">
                  <a:extLst>
                    <a:ext uri="{FF2B5EF4-FFF2-40B4-BE49-F238E27FC236}">
                      <a16:creationId xmlns:a16="http://schemas.microsoft.com/office/drawing/2014/main" id="{05DF3C45-7420-C968-FE15-C9884BB81832}"/>
                    </a:ext>
                  </a:extLst>
                </p:cNvPr>
                <p:cNvCxnSpPr/>
                <p:nvPr/>
              </p:nvCxnSpPr>
              <p:spPr>
                <a:xfrm>
                  <a:off x="8212394" y="1815059"/>
                  <a:ext cx="0" cy="3811451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DCFBF71-5ADE-FC17-1CD7-37A4CE86E8D6}"/>
                  </a:ext>
                </a:extLst>
              </p:cNvPr>
              <p:cNvSpPr txBox="1"/>
              <p:nvPr/>
            </p:nvSpPr>
            <p:spPr>
              <a:xfrm>
                <a:off x="6835454" y="3272803"/>
                <a:ext cx="106079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L" sz="1100" dirty="0">
                    <a:solidFill>
                      <a:srgbClr val="FF0000"/>
                    </a:solidFill>
                  </a:rPr>
                  <a:t>+ 168 días</a:t>
                </a:r>
              </a:p>
            </p:txBody>
          </p:sp>
        </p:grpSp>
        <p:sp>
          <p:nvSpPr>
            <p:cNvPr id="19" name="Cerrar llave 18">
              <a:extLst>
                <a:ext uri="{FF2B5EF4-FFF2-40B4-BE49-F238E27FC236}">
                  <a16:creationId xmlns:a16="http://schemas.microsoft.com/office/drawing/2014/main" id="{78A82AE2-707E-3713-2730-B3BF944FABB9}"/>
                </a:ext>
              </a:extLst>
            </p:cNvPr>
            <p:cNvSpPr/>
            <p:nvPr/>
          </p:nvSpPr>
          <p:spPr>
            <a:xfrm rot="16200000">
              <a:off x="7206762" y="3144050"/>
              <a:ext cx="265471" cy="1214564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93661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BE1C1B44-C340-1DBA-EE36-D1C7B031E396}"/>
              </a:ext>
            </a:extLst>
          </p:cNvPr>
          <p:cNvGrpSpPr/>
          <p:nvPr/>
        </p:nvGrpSpPr>
        <p:grpSpPr>
          <a:xfrm>
            <a:off x="7800718" y="1452562"/>
            <a:ext cx="2634297" cy="1440657"/>
            <a:chOff x="3261678" y="1466850"/>
            <a:chExt cx="2634297" cy="1440657"/>
          </a:xfrm>
        </p:grpSpPr>
        <p:pic>
          <p:nvPicPr>
            <p:cNvPr id="92" name="Google Shape;92;p1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61678" y="1466850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4"/>
            <p:cNvSpPr txBox="1"/>
            <p:nvPr/>
          </p:nvSpPr>
          <p:spPr>
            <a:xfrm>
              <a:off x="3261678" y="1788104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i="0" u="none" strike="noStrike" cap="none" noProof="0" dirty="0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+156 (d)</a:t>
              </a:r>
              <a:endParaRPr lang="es-CL" sz="1050" noProof="0" dirty="0"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3261678" y="2623922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 b="0" i="0" u="none" strike="noStrike" cap="none" noProof="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Forecast Montec </a:t>
              </a:r>
              <a:r>
                <a:rPr lang="es-CL" sz="1200" b="1" i="0" u="none" strike="noStrike" cap="none" noProof="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07-07-26</a:t>
              </a:r>
              <a:endParaRPr lang="es-CL" sz="1050" b="1" noProof="0" dirty="0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26B8C4C-57BA-222D-05B8-F4808F6F0D79}"/>
              </a:ext>
            </a:extLst>
          </p:cNvPr>
          <p:cNvGrpSpPr/>
          <p:nvPr/>
        </p:nvGrpSpPr>
        <p:grpSpPr>
          <a:xfrm>
            <a:off x="4684667" y="1453753"/>
            <a:ext cx="2634297" cy="1440657"/>
            <a:chOff x="95250" y="1468041"/>
            <a:chExt cx="2634297" cy="1440657"/>
          </a:xfrm>
        </p:grpSpPr>
        <p:pic>
          <p:nvPicPr>
            <p:cNvPr id="93" name="Google Shape;93;p1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5250" y="1468041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4"/>
            <p:cNvSpPr txBox="1"/>
            <p:nvPr/>
          </p:nvSpPr>
          <p:spPr>
            <a:xfrm>
              <a:off x="95250" y="1789295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i="0" u="none" strike="noStrike" cap="none" noProof="0" dirty="0">
                  <a:solidFill>
                    <a:srgbClr val="F59E0B"/>
                  </a:solidFill>
                  <a:latin typeface="Urbanist"/>
                  <a:ea typeface="Urbanist"/>
                  <a:cs typeface="Urbanist"/>
                  <a:sym typeface="Urbanist"/>
                </a:rPr>
                <a:t>+4.221 (m)</a:t>
              </a:r>
              <a:endParaRPr lang="es-CL" sz="1050" noProof="0" dirty="0"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95250" y="2570345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 b="0" i="0" u="none" strike="noStrike" cap="none" noProof="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Cantidad Remanente al 31-01-26</a:t>
              </a:r>
              <a:endParaRPr lang="es-CL" sz="1050" noProof="0" dirty="0"/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Escenario Base</a:t>
            </a:r>
            <a:endParaRPr lang="es-CL" noProof="0" dirty="0"/>
          </a:p>
        </p:txBody>
      </p:sp>
      <p:sp>
        <p:nvSpPr>
          <p:cNvPr id="101" name="Google Shape;101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50D7433F-8D22-1F07-E64A-AE476C8BD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126581"/>
            <a:ext cx="10582275" cy="3655318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85F4F5CC-4F20-D695-63A1-996F125B485D}"/>
              </a:ext>
            </a:extLst>
          </p:cNvPr>
          <p:cNvGrpSpPr/>
          <p:nvPr/>
        </p:nvGrpSpPr>
        <p:grpSpPr>
          <a:xfrm>
            <a:off x="1568616" y="1452562"/>
            <a:ext cx="2634297" cy="1440657"/>
            <a:chOff x="3261678" y="1466850"/>
            <a:chExt cx="2634297" cy="1440657"/>
          </a:xfrm>
        </p:grpSpPr>
        <p:pic>
          <p:nvPicPr>
            <p:cNvPr id="24" name="Google Shape;92;p14" descr="image.png">
              <a:extLst>
                <a:ext uri="{FF2B5EF4-FFF2-40B4-BE49-F238E27FC236}">
                  <a16:creationId xmlns:a16="http://schemas.microsoft.com/office/drawing/2014/main" id="{8262481B-2506-A06B-5291-67B6ABE0F19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61678" y="1466850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96;p14">
              <a:extLst>
                <a:ext uri="{FF2B5EF4-FFF2-40B4-BE49-F238E27FC236}">
                  <a16:creationId xmlns:a16="http://schemas.microsoft.com/office/drawing/2014/main" id="{C60406D4-220B-471B-06D8-3C8EB0E47558}"/>
                </a:ext>
              </a:extLst>
            </p:cNvPr>
            <p:cNvSpPr txBox="1"/>
            <p:nvPr/>
          </p:nvSpPr>
          <p:spPr>
            <a:xfrm>
              <a:off x="3261678" y="1788104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i="0" u="none" strike="noStrike" cap="none" noProof="0" dirty="0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13.003 (</a:t>
              </a:r>
              <a:r>
                <a:rPr lang="es-CL" sz="4000" b="1" dirty="0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m</a:t>
              </a:r>
              <a:r>
                <a:rPr lang="es-CL" sz="4000" b="1" i="0" u="none" strike="noStrike" cap="none" noProof="0" dirty="0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)</a:t>
              </a:r>
              <a:endParaRPr lang="es-CL" sz="1050" noProof="0" dirty="0"/>
            </a:p>
          </p:txBody>
        </p:sp>
        <p:sp>
          <p:nvSpPr>
            <p:cNvPr id="26" name="Google Shape;97;p14">
              <a:extLst>
                <a:ext uri="{FF2B5EF4-FFF2-40B4-BE49-F238E27FC236}">
                  <a16:creationId xmlns:a16="http://schemas.microsoft.com/office/drawing/2014/main" id="{FF99DFBC-88B4-8F30-871E-04E56AAD158A}"/>
                </a:ext>
              </a:extLst>
            </p:cNvPr>
            <p:cNvSpPr txBox="1"/>
            <p:nvPr/>
          </p:nvSpPr>
          <p:spPr>
            <a:xfrm>
              <a:off x="3261678" y="2623922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Cant. Línea Base 31-05-2025  </a:t>
              </a:r>
              <a:endParaRPr lang="es-CL" sz="1050" b="1" noProof="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/>
        </p:nvSpPr>
        <p:spPr>
          <a:xfrm>
            <a:off x="571501" y="339845"/>
            <a:ext cx="1058590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3150" b="1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Análisis de Dispersión por Actividad</a:t>
            </a:r>
            <a:endParaRPr lang="es-CL" sz="320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432162" y="1820100"/>
            <a:ext cx="51972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Desviación Proyectada</a:t>
            </a:r>
            <a:endParaRPr lang="es-CL" noProof="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432162" y="2205862"/>
            <a:ext cx="305126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gráfico compara la duración proyectada por Montec (Forecast al 31 de enero) frente al tiempo requerido para ejecutar las cantidades remanentes, aplicando los rendimientos de la Línea Base vigente </a:t>
            </a:r>
            <a:endParaRPr lang="es-CL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7496EF-44C4-E524-C9DA-A25C1F9C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07"/>
          <a:stretch>
            <a:fillRect/>
          </a:stretch>
        </p:blipFill>
        <p:spPr>
          <a:xfrm>
            <a:off x="3959097" y="1437815"/>
            <a:ext cx="7916092" cy="48557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Google Shape;101;p14">
            <a:extLst>
              <a:ext uri="{FF2B5EF4-FFF2-40B4-BE49-F238E27FC236}">
                <a16:creationId xmlns:a16="http://schemas.microsoft.com/office/drawing/2014/main" id="{32050DAF-6B28-2FAF-2489-303702D62748}"/>
              </a:ext>
            </a:extLst>
          </p:cNvPr>
          <p:cNvSpPr/>
          <p:nvPr/>
        </p:nvSpPr>
        <p:spPr>
          <a:xfrm>
            <a:off x="571501" y="92910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Actividades Críticas (Mayor Exceso)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25EF473-060B-9872-F974-71FACD6B4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464506"/>
              </p:ext>
            </p:extLst>
          </p:nvPr>
        </p:nvGraphicFramePr>
        <p:xfrm>
          <a:off x="5259977" y="1322387"/>
          <a:ext cx="6679474" cy="5432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129;p16">
            <a:extLst>
              <a:ext uri="{FF2B5EF4-FFF2-40B4-BE49-F238E27FC236}">
                <a16:creationId xmlns:a16="http://schemas.microsoft.com/office/drawing/2014/main" id="{23F344CB-D12A-60B9-B57A-B1059D430502}"/>
              </a:ext>
            </a:extLst>
          </p:cNvPr>
          <p:cNvSpPr txBox="1"/>
          <p:nvPr/>
        </p:nvSpPr>
        <p:spPr>
          <a:xfrm>
            <a:off x="423453" y="1465262"/>
            <a:ext cx="51972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Desviación Proyectada</a:t>
            </a:r>
            <a:endParaRPr lang="es-CL" noProof="0" dirty="0"/>
          </a:p>
        </p:txBody>
      </p:sp>
      <p:sp>
        <p:nvSpPr>
          <p:cNvPr id="4" name="Google Shape;130;p16">
            <a:extLst>
              <a:ext uri="{FF2B5EF4-FFF2-40B4-BE49-F238E27FC236}">
                <a16:creationId xmlns:a16="http://schemas.microsoft.com/office/drawing/2014/main" id="{65B83F1A-8DD7-8EE6-CA8F-420A84899068}"/>
              </a:ext>
            </a:extLst>
          </p:cNvPr>
          <p:cNvSpPr txBox="1"/>
          <p:nvPr/>
        </p:nvSpPr>
        <p:spPr>
          <a:xfrm>
            <a:off x="423452" y="1851024"/>
            <a:ext cx="4235633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60000"/>
              </a:lnSpc>
            </a:pPr>
            <a:r>
              <a:rPr lang="es-CL" sz="1500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El gráfico muestra la diferencia de plazos (delta) entre la duración proyectada por Montec (Forecast al 31-01-26) y el tiempo calculado para el trabajo remanente, basado en los rendimientos de la Línea Base aprobada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90725"/>
            <a:ext cx="3492549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990725"/>
            <a:ext cx="3492549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990725"/>
            <a:ext cx="3492549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432589" y="3143250"/>
            <a:ext cx="177022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22 Actividades</a:t>
            </a:r>
            <a:endParaRPr lang="es-CL" noProof="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866775" y="35909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La gran mayoría de las tareas solicitan plazos superiores al compromiso de Línea Base. Representan el principal foco de la objeción técnica.</a:t>
            </a:r>
            <a:endParaRPr lang="es-CL" noProof="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240893" y="3143250"/>
            <a:ext cx="171021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12 Actividades</a:t>
            </a:r>
            <a:endParaRPr lang="es-CL" noProof="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4645074" y="359092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Un tercio de las operaciones mantienen sus duraciones alineadas a la planificación inicial, demostrando que los rendimientos pactados son viables.</a:t>
            </a:r>
            <a:endParaRPr lang="es-CL" noProof="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9224218" y="3143250"/>
            <a:ext cx="13001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1 Actividad</a:t>
            </a:r>
            <a:endParaRPr lang="es-CL" noProof="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8423374" y="35909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Solo una tarea presenta un escenario optimista con adelanto respecto a la Línea Base, marcando una excepción en el </a:t>
            </a:r>
            <a:r>
              <a:rPr lang="es-CL" sz="1500" b="0" i="0" u="none" strike="noStrike" cap="none" noProof="0" dirty="0" err="1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forecast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del contratista.</a:t>
            </a:r>
            <a:endParaRPr lang="es-CL" noProof="0"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0525" y="24384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975" y="24384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7124" y="24384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Resumen Análisis de Dispersión por Actividad</a:t>
            </a:r>
            <a:endParaRPr lang="es-CL" noProof="0" dirty="0"/>
          </a:p>
        </p:txBody>
      </p:sp>
      <p:sp>
        <p:nvSpPr>
          <p:cNvPr id="150" name="Google Shape;150;p17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571500" y="28076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Comparativo de Actividades en Paralelo</a:t>
            </a:r>
            <a:endParaRPr lang="es-CL" noProof="0"/>
          </a:p>
        </p:txBody>
      </p:sp>
      <p:sp>
        <p:nvSpPr>
          <p:cNvPr id="168" name="Google Shape;168;p19"/>
          <p:cNvSpPr/>
          <p:nvPr/>
        </p:nvSpPr>
        <p:spPr>
          <a:xfrm>
            <a:off x="571500" y="90941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673A340-4352-7D8A-29AC-5AAE43353CDF}"/>
              </a:ext>
            </a:extLst>
          </p:cNvPr>
          <p:cNvGrpSpPr/>
          <p:nvPr/>
        </p:nvGrpSpPr>
        <p:grpSpPr>
          <a:xfrm>
            <a:off x="3211301" y="1143060"/>
            <a:ext cx="2634297" cy="1440657"/>
            <a:chOff x="3261678" y="1466850"/>
            <a:chExt cx="2634297" cy="1440657"/>
          </a:xfrm>
        </p:grpSpPr>
        <p:pic>
          <p:nvPicPr>
            <p:cNvPr id="5" name="Google Shape;92;p14" descr="image.png">
              <a:extLst>
                <a:ext uri="{FF2B5EF4-FFF2-40B4-BE49-F238E27FC236}">
                  <a16:creationId xmlns:a16="http://schemas.microsoft.com/office/drawing/2014/main" id="{7349F18E-3DDE-34C0-DA30-FB536C8DE01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61678" y="1466850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96;p14">
              <a:extLst>
                <a:ext uri="{FF2B5EF4-FFF2-40B4-BE49-F238E27FC236}">
                  <a16:creationId xmlns:a16="http://schemas.microsoft.com/office/drawing/2014/main" id="{FAD263D9-0D66-95BD-E4B8-FDDA1C6EF276}"/>
                </a:ext>
              </a:extLst>
            </p:cNvPr>
            <p:cNvSpPr txBox="1"/>
            <p:nvPr/>
          </p:nvSpPr>
          <p:spPr>
            <a:xfrm>
              <a:off x="3261678" y="1788104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i="0" u="none" strike="noStrike" cap="none" noProof="0" dirty="0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6</a:t>
              </a:r>
              <a:endParaRPr lang="es-CL" sz="1050" noProof="0" dirty="0"/>
            </a:p>
          </p:txBody>
        </p:sp>
        <p:sp>
          <p:nvSpPr>
            <p:cNvPr id="7" name="Google Shape;97;p14">
              <a:extLst>
                <a:ext uri="{FF2B5EF4-FFF2-40B4-BE49-F238E27FC236}">
                  <a16:creationId xmlns:a16="http://schemas.microsoft.com/office/drawing/2014/main" id="{FD75A1F9-E0E2-B19A-5819-BB01E11B83A5}"/>
                </a:ext>
              </a:extLst>
            </p:cNvPr>
            <p:cNvSpPr txBox="1"/>
            <p:nvPr/>
          </p:nvSpPr>
          <p:spPr>
            <a:xfrm>
              <a:off x="3261678" y="2623922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 b="0" i="0" u="none" strike="noStrike" cap="none" noProof="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Promedio Línea base</a:t>
              </a:r>
              <a:endParaRPr lang="es-CL" sz="1050" b="1" noProof="0" dirty="0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5C977CBF-6887-0DB1-A3FE-58C748DF328F}"/>
              </a:ext>
            </a:extLst>
          </p:cNvPr>
          <p:cNvGrpSpPr/>
          <p:nvPr/>
        </p:nvGrpSpPr>
        <p:grpSpPr>
          <a:xfrm>
            <a:off x="95250" y="1144251"/>
            <a:ext cx="2634297" cy="1440657"/>
            <a:chOff x="95250" y="1468041"/>
            <a:chExt cx="2634297" cy="1440657"/>
          </a:xfrm>
        </p:grpSpPr>
        <p:pic>
          <p:nvPicPr>
            <p:cNvPr id="9" name="Google Shape;93;p14" descr="image.png">
              <a:extLst>
                <a:ext uri="{FF2B5EF4-FFF2-40B4-BE49-F238E27FC236}">
                  <a16:creationId xmlns:a16="http://schemas.microsoft.com/office/drawing/2014/main" id="{A4509CAE-7292-2BFB-E56B-6295C10D263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5250" y="1468041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98;p14">
              <a:extLst>
                <a:ext uri="{FF2B5EF4-FFF2-40B4-BE49-F238E27FC236}">
                  <a16:creationId xmlns:a16="http://schemas.microsoft.com/office/drawing/2014/main" id="{363E2381-8E22-7EB1-7B3C-81F040E12C8C}"/>
                </a:ext>
              </a:extLst>
            </p:cNvPr>
            <p:cNvSpPr txBox="1"/>
            <p:nvPr/>
          </p:nvSpPr>
          <p:spPr>
            <a:xfrm>
              <a:off x="95250" y="1789295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dirty="0">
                  <a:solidFill>
                    <a:srgbClr val="F59E0B"/>
                  </a:solidFill>
                  <a:latin typeface="Urbanist"/>
                  <a:ea typeface="Urbanist"/>
                  <a:cs typeface="Urbanist"/>
                  <a:sym typeface="Urbanist"/>
                </a:rPr>
                <a:t>11</a:t>
              </a:r>
              <a:endParaRPr lang="es-CL" sz="1050" noProof="0" dirty="0"/>
            </a:p>
          </p:txBody>
        </p:sp>
        <p:sp>
          <p:nvSpPr>
            <p:cNvPr id="11" name="Google Shape;99;p14">
              <a:extLst>
                <a:ext uri="{FF2B5EF4-FFF2-40B4-BE49-F238E27FC236}">
                  <a16:creationId xmlns:a16="http://schemas.microsoft.com/office/drawing/2014/main" id="{1CEE2388-BDED-5ACC-71CD-48FFF0E9271C}"/>
                </a:ext>
              </a:extLst>
            </p:cNvPr>
            <p:cNvSpPr txBox="1"/>
            <p:nvPr/>
          </p:nvSpPr>
          <p:spPr>
            <a:xfrm>
              <a:off x="95250" y="2570345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Máximo Línea Base</a:t>
              </a:r>
              <a:endParaRPr lang="es-CL" sz="1050" noProof="0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AAA7C34-E297-6DB4-B7F1-BCAC66A3A8B1}"/>
              </a:ext>
            </a:extLst>
          </p:cNvPr>
          <p:cNvGrpSpPr/>
          <p:nvPr/>
        </p:nvGrpSpPr>
        <p:grpSpPr>
          <a:xfrm>
            <a:off x="6327352" y="1186089"/>
            <a:ext cx="2634297" cy="1440657"/>
            <a:chOff x="6428106" y="1509879"/>
            <a:chExt cx="2634297" cy="1440657"/>
          </a:xfrm>
        </p:grpSpPr>
        <p:pic>
          <p:nvPicPr>
            <p:cNvPr id="13" name="Google Shape;93;p14" descr="image.png">
              <a:extLst>
                <a:ext uri="{FF2B5EF4-FFF2-40B4-BE49-F238E27FC236}">
                  <a16:creationId xmlns:a16="http://schemas.microsoft.com/office/drawing/2014/main" id="{01D0F3CD-1016-2C3E-3A66-49B42D3DA4C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28106" y="1509879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98;p14">
              <a:extLst>
                <a:ext uri="{FF2B5EF4-FFF2-40B4-BE49-F238E27FC236}">
                  <a16:creationId xmlns:a16="http://schemas.microsoft.com/office/drawing/2014/main" id="{9A41DDE2-49AF-4972-0CFB-CC86DF4CB5D5}"/>
                </a:ext>
              </a:extLst>
            </p:cNvPr>
            <p:cNvSpPr txBox="1"/>
            <p:nvPr/>
          </p:nvSpPr>
          <p:spPr>
            <a:xfrm>
              <a:off x="6428106" y="1831133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i="0" u="none" strike="noStrike" cap="none" noProof="0" dirty="0">
                  <a:solidFill>
                    <a:srgbClr val="F59E0B"/>
                  </a:solidFill>
                  <a:latin typeface="Urbanist"/>
                  <a:ea typeface="Urbanist"/>
                  <a:cs typeface="Urbanist"/>
                  <a:sym typeface="Urbanist"/>
                </a:rPr>
                <a:t>5</a:t>
              </a:r>
              <a:endParaRPr lang="es-CL" sz="1050" noProof="0" dirty="0"/>
            </a:p>
          </p:txBody>
        </p:sp>
        <p:sp>
          <p:nvSpPr>
            <p:cNvPr id="15" name="Google Shape;99;p14">
              <a:extLst>
                <a:ext uri="{FF2B5EF4-FFF2-40B4-BE49-F238E27FC236}">
                  <a16:creationId xmlns:a16="http://schemas.microsoft.com/office/drawing/2014/main" id="{D35D0326-E5A9-B7F4-E5AE-4A9AF0E9EB23}"/>
                </a:ext>
              </a:extLst>
            </p:cNvPr>
            <p:cNvSpPr txBox="1"/>
            <p:nvPr/>
          </p:nvSpPr>
          <p:spPr>
            <a:xfrm>
              <a:off x="6428106" y="2612183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s-CL" sz="1200" noProof="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Máximo Forecast Nivelado</a:t>
              </a:r>
              <a:endParaRPr lang="es-CL" sz="1050" b="1" noProof="0" dirty="0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22CEC33-3164-B629-ABA1-129D157454B0}"/>
              </a:ext>
            </a:extLst>
          </p:cNvPr>
          <p:cNvGrpSpPr/>
          <p:nvPr/>
        </p:nvGrpSpPr>
        <p:grpSpPr>
          <a:xfrm>
            <a:off x="9443403" y="1169303"/>
            <a:ext cx="2634297" cy="1440657"/>
            <a:chOff x="9443403" y="1493093"/>
            <a:chExt cx="2634297" cy="1440657"/>
          </a:xfrm>
        </p:grpSpPr>
        <p:pic>
          <p:nvPicPr>
            <p:cNvPr id="17" name="Google Shape;92;p14" descr="image.png">
              <a:extLst>
                <a:ext uri="{FF2B5EF4-FFF2-40B4-BE49-F238E27FC236}">
                  <a16:creationId xmlns:a16="http://schemas.microsoft.com/office/drawing/2014/main" id="{090B09D1-059A-60D2-F656-BF07B1F0985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43403" y="1493093"/>
              <a:ext cx="2634297" cy="1440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96;p14">
              <a:extLst>
                <a:ext uri="{FF2B5EF4-FFF2-40B4-BE49-F238E27FC236}">
                  <a16:creationId xmlns:a16="http://schemas.microsoft.com/office/drawing/2014/main" id="{86ED9662-2CBB-B31C-AEDB-42E4AA3ABE61}"/>
                </a:ext>
              </a:extLst>
            </p:cNvPr>
            <p:cNvSpPr txBox="1"/>
            <p:nvPr/>
          </p:nvSpPr>
          <p:spPr>
            <a:xfrm>
              <a:off x="9443403" y="1814347"/>
              <a:ext cx="2634297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4000" b="1" i="0" u="none" strike="noStrike" cap="none" noProof="0" dirty="0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+4,2</a:t>
              </a:r>
              <a:endParaRPr lang="es-CL" sz="1050" noProof="0" dirty="0"/>
            </a:p>
          </p:txBody>
        </p:sp>
        <p:sp>
          <p:nvSpPr>
            <p:cNvPr id="19" name="Google Shape;97;p14">
              <a:extLst>
                <a:ext uri="{FF2B5EF4-FFF2-40B4-BE49-F238E27FC236}">
                  <a16:creationId xmlns:a16="http://schemas.microsoft.com/office/drawing/2014/main" id="{932DCA7E-94CA-EFEA-CCF6-34F43CEC83E6}"/>
                </a:ext>
              </a:extLst>
            </p:cNvPr>
            <p:cNvSpPr txBox="1"/>
            <p:nvPr/>
          </p:nvSpPr>
          <p:spPr>
            <a:xfrm>
              <a:off x="9443403" y="2650165"/>
              <a:ext cx="2634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200" b="0" i="0" u="none" strike="noStrike" cap="none" noProof="0" dirty="0">
                  <a:solidFill>
                    <a:srgbClr val="111827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Prom. Forecast Nivelado</a:t>
              </a:r>
              <a:endParaRPr lang="es-CL" sz="1050" b="1" noProof="0" dirty="0"/>
            </a:p>
          </p:txBody>
        </p:sp>
      </p:grp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F9C6F4B2-2E1E-8D83-E981-12C4589578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720991"/>
              </p:ext>
            </p:extLst>
          </p:nvPr>
        </p:nvGraphicFramePr>
        <p:xfrm>
          <a:off x="4754881" y="2850804"/>
          <a:ext cx="7205300" cy="3937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Google Shape;129;p16">
            <a:extLst>
              <a:ext uri="{FF2B5EF4-FFF2-40B4-BE49-F238E27FC236}">
                <a16:creationId xmlns:a16="http://schemas.microsoft.com/office/drawing/2014/main" id="{B6CE27FA-3BF9-635B-81D8-65BD6F29840D}"/>
              </a:ext>
            </a:extLst>
          </p:cNvPr>
          <p:cNvSpPr txBox="1"/>
          <p:nvPr/>
        </p:nvSpPr>
        <p:spPr>
          <a:xfrm>
            <a:off x="373927" y="3065482"/>
            <a:ext cx="375393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Parámetros de Nivelación de Recursos:</a:t>
            </a:r>
          </a:p>
        </p:txBody>
      </p:sp>
      <p:sp>
        <p:nvSpPr>
          <p:cNvPr id="23" name="Google Shape;130;p16">
            <a:extLst>
              <a:ext uri="{FF2B5EF4-FFF2-40B4-BE49-F238E27FC236}">
                <a16:creationId xmlns:a16="http://schemas.microsoft.com/office/drawing/2014/main" id="{FEEF4442-8194-8EB6-F12B-01D3938F0443}"/>
              </a:ext>
            </a:extLst>
          </p:cNvPr>
          <p:cNvSpPr txBox="1"/>
          <p:nvPr/>
        </p:nvSpPr>
        <p:spPr>
          <a:xfrm>
            <a:off x="95250" y="3429000"/>
            <a:ext cx="4235633" cy="242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Criterio base: </a:t>
            </a:r>
            <a:r>
              <a:rPr lang="es-CL" sz="1500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Rendimientos comprometidos con el EPCista en la Línea Base.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Restricción principal: </a:t>
            </a:r>
            <a:r>
              <a:rPr lang="es-CL" sz="1500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Respetar el límite máximo de frentes de trabajo en paralelo.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CL" sz="1500" b="1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Resultado (Holgura): </a:t>
            </a:r>
            <a:r>
              <a:rPr lang="es-CL" sz="1500" dirty="0">
                <a:solidFill>
                  <a:srgbClr val="4B5563"/>
                </a:solidFill>
                <a:latin typeface="Urbanist"/>
                <a:ea typeface="Urbanist"/>
                <a:cs typeface="Urbanist"/>
              </a:rPr>
              <a:t>Generación de 11 días de holgura respecto al escenario determinista (periodo: 27/04/2026 al 08/05/2026).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90687"/>
            <a:ext cx="53816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690687"/>
            <a:ext cx="53816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62412"/>
            <a:ext cx="53816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062412"/>
            <a:ext cx="538162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14400" y="2071687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Línea Base Compromiso</a:t>
            </a:r>
            <a:endParaRPr lang="es-CL" noProof="0"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2519362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Velocidad pactada originalmente de </a:t>
            </a:r>
            <a:r>
              <a:rPr lang="es-CL" sz="1500" b="1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64.7 m/día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. Restan por ejecutar 4.221 m de un total proyectado de 13.003 m, distribuidos en 35 actividades.</a:t>
            </a:r>
            <a:endParaRPr lang="es-CL" noProof="0"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6581775" y="2071687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Forecast Nivelado (Realidad)</a:t>
            </a:r>
            <a:endParaRPr lang="es-CL" noProof="0"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581775" y="2519362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Completa el pendiente en </a:t>
            </a:r>
            <a:r>
              <a:rPr lang="es-CL" sz="1500" b="1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86 días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(Fin: 27 de abril de 2026). Utiliza una capacidad máxima de 5 slots diarios, correspondiente al promedio de la Línea Base.</a:t>
            </a:r>
            <a:endParaRPr lang="es-CL" noProof="0"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4443412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Forecast Contratista</a:t>
            </a:r>
            <a:endParaRPr lang="es-CL" noProof="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914400" y="4891087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Plantea extender la ejecución a </a:t>
            </a:r>
            <a:r>
              <a:rPr lang="es-CL" sz="1500" b="1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156 días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(Fin: 07 de julio de 2026), sufriendo una caída en la velocidad a 27.1 m/día sin fundamento estructural.</a:t>
            </a:r>
            <a:endParaRPr lang="es-CL" noProof="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581775" y="4443412"/>
            <a:ext cx="493061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1" i="0" u="none" strike="noStrike" cap="none" noProof="0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Conclusión Preliminar</a:t>
            </a:r>
            <a:endParaRPr lang="es-CL" noProof="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6581775" y="4891087"/>
            <a:ext cx="46958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El exceso sistemático de </a:t>
            </a:r>
            <a:r>
              <a:rPr lang="es-CL" sz="1500" b="1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71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días carece de justificación técnica basada en los rendimientos o la capacidad máxima de ejecución demostrada.</a:t>
            </a:r>
            <a:endParaRPr lang="es-CL" noProof="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Comparativa de Escenarios Base</a:t>
            </a:r>
            <a:endParaRPr lang="es-CL" noProof="0" dirty="0"/>
          </a:p>
        </p:txBody>
      </p:sp>
      <p:sp>
        <p:nvSpPr>
          <p:cNvPr id="120" name="Google Shape;120;p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403" y="1134019"/>
            <a:ext cx="5286375" cy="5256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764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168303" y="1524544"/>
            <a:ext cx="4171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Sobreestimación No Sustentada: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El contratista solicita extensiones sin evidencia técnica de restricciones físicas en terreno.</a:t>
            </a:r>
            <a:endParaRPr lang="es-CL" noProof="0" dirty="0"/>
          </a:p>
        </p:txBody>
      </p:sp>
      <p:sp>
        <p:nvSpPr>
          <p:cNvPr id="178" name="Google Shape;178;p20"/>
          <p:cNvSpPr txBox="1"/>
          <p:nvPr/>
        </p:nvSpPr>
        <p:spPr>
          <a:xfrm>
            <a:off x="1168303" y="2677069"/>
            <a:ext cx="4171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Caída Crítica de Rendimiento: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La eficiencia promedio calculada para el remanente decae a un inaceptable 73% vs. Línea Base.</a:t>
            </a:r>
            <a:endParaRPr lang="es-CL" noProof="0"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1168303" y="3829594"/>
            <a:ext cx="4171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Viabilidad de Recuperación: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El Forecast Nivelado asegura la consecución de las obras para abril de 2026 sin riesgo de saturación de recursos.</a:t>
            </a:r>
            <a:endParaRPr lang="es-CL" noProof="0" dirty="0"/>
          </a:p>
        </p:txBody>
      </p:sp>
      <p:sp>
        <p:nvSpPr>
          <p:cNvPr id="180" name="Google Shape;180;p20"/>
          <p:cNvSpPr txBox="1"/>
          <p:nvPr/>
        </p:nvSpPr>
        <p:spPr>
          <a:xfrm>
            <a:off x="1168303" y="5246505"/>
            <a:ext cx="4171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Acción Inmediata:</a:t>
            </a:r>
            <a:r>
              <a:rPr lang="es-CL" sz="1500" b="0" i="0" u="none" strike="noStrike" cap="none" noProof="0" dirty="0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 Rechazo oficial de la extensión de 71 días y exigencia de alineación a los rendimientos base del contrato.</a:t>
            </a:r>
            <a:endParaRPr lang="es-CL" noProof="0"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17733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Conclusión y Acciones</a:t>
            </a:r>
            <a:endParaRPr lang="es-CL" noProof="0" dirty="0"/>
          </a:p>
        </p:txBody>
      </p:sp>
      <p:sp>
        <p:nvSpPr>
          <p:cNvPr id="182" name="Google Shape;182;p20"/>
          <p:cNvSpPr/>
          <p:nvPr/>
        </p:nvSpPr>
        <p:spPr>
          <a:xfrm>
            <a:off x="571500" y="80598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166" y="161241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166" y="2794295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166" y="396474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166" y="5371726"/>
            <a:ext cx="95250" cy="2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11ECE4D0-FF14-E92E-76C8-54B6D19B3973}"/>
              </a:ext>
            </a:extLst>
          </p:cNvPr>
          <p:cNvGrpSpPr/>
          <p:nvPr/>
        </p:nvGrpSpPr>
        <p:grpSpPr>
          <a:xfrm>
            <a:off x="5962649" y="1884657"/>
            <a:ext cx="6029325" cy="3889874"/>
            <a:chOff x="5962649" y="2172788"/>
            <a:chExt cx="6029325" cy="3889874"/>
          </a:xfrm>
        </p:grpSpPr>
        <p:graphicFrame>
          <p:nvGraphicFramePr>
            <p:cNvPr id="2" name="Gráfico 1">
              <a:extLst>
                <a:ext uri="{FF2B5EF4-FFF2-40B4-BE49-F238E27FC236}">
                  <a16:creationId xmlns:a16="http://schemas.microsoft.com/office/drawing/2014/main" id="{5FAE0C06-3F13-F4E1-F3F3-34F67FF3AF4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26010808"/>
                </p:ext>
              </p:extLst>
            </p:nvPr>
          </p:nvGraphicFramePr>
          <p:xfrm>
            <a:off x="5962649" y="2172788"/>
            <a:ext cx="6029325" cy="388987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" name="Abrir llave 2">
              <a:extLst>
                <a:ext uri="{FF2B5EF4-FFF2-40B4-BE49-F238E27FC236}">
                  <a16:creationId xmlns:a16="http://schemas.microsoft.com/office/drawing/2014/main" id="{083A46FD-D808-6514-AA6C-6F0CE15A5B2F}"/>
                </a:ext>
              </a:extLst>
            </p:cNvPr>
            <p:cNvSpPr/>
            <p:nvPr/>
          </p:nvSpPr>
          <p:spPr>
            <a:xfrm rot="16200000">
              <a:off x="10677136" y="1992101"/>
              <a:ext cx="282723" cy="2067746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6CFFF699-DF90-E6D4-7DE0-8221AC183F87}"/>
                </a:ext>
              </a:extLst>
            </p:cNvPr>
            <p:cNvCxnSpPr>
              <a:cxnSpLocks/>
            </p:cNvCxnSpPr>
            <p:nvPr/>
          </p:nvCxnSpPr>
          <p:spPr>
            <a:xfrm>
              <a:off x="9784626" y="2750004"/>
              <a:ext cx="0" cy="2475887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D1F0A566-9969-A300-8851-03C240CD6D24}"/>
                </a:ext>
              </a:extLst>
            </p:cNvPr>
            <p:cNvCxnSpPr>
              <a:cxnSpLocks/>
            </p:cNvCxnSpPr>
            <p:nvPr/>
          </p:nvCxnSpPr>
          <p:spPr>
            <a:xfrm>
              <a:off x="11852371" y="2750004"/>
              <a:ext cx="0" cy="2475887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7DA660C-479B-5136-78BC-57C6EF88EAE0}"/>
                </a:ext>
              </a:extLst>
            </p:cNvPr>
            <p:cNvSpPr txBox="1"/>
            <p:nvPr/>
          </p:nvSpPr>
          <p:spPr>
            <a:xfrm>
              <a:off x="10071877" y="3269390"/>
              <a:ext cx="17281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100" b="1" dirty="0">
                  <a:solidFill>
                    <a:srgbClr val="FF0000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71 m en 59 días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D7427408-6949-1DA7-D0EC-4727783D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>
            <a:extLst>
              <a:ext uri="{FF2B5EF4-FFF2-40B4-BE49-F238E27FC236}">
                <a16:creationId xmlns:a16="http://schemas.microsoft.com/office/drawing/2014/main" id="{4D4EB341-49D1-0C73-2CD0-ED94517171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764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5E0BD7B2-3643-7312-6C74-0FC7BD227EBB}"/>
              </a:ext>
            </a:extLst>
          </p:cNvPr>
          <p:cNvSpPr txBox="1"/>
          <p:nvPr/>
        </p:nvSpPr>
        <p:spPr>
          <a:xfrm>
            <a:off x="571500" y="177335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11827"/>
                </a:solidFill>
                <a:latin typeface="Urbanist"/>
                <a:ea typeface="Urbanist"/>
                <a:cs typeface="Urbanist"/>
                <a:sym typeface="Urbanist"/>
              </a:rPr>
              <a:t>Diagrama de Tiempo Cantidad</a:t>
            </a:r>
            <a:endParaRPr lang="es-CL" noProof="0" dirty="0"/>
          </a:p>
        </p:txBody>
      </p:sp>
      <p:sp>
        <p:nvSpPr>
          <p:cNvPr id="182" name="Google Shape;182;p20">
            <a:extLst>
              <a:ext uri="{FF2B5EF4-FFF2-40B4-BE49-F238E27FC236}">
                <a16:creationId xmlns:a16="http://schemas.microsoft.com/office/drawing/2014/main" id="{FEBEDCD7-8D5D-2936-40FF-F0CD26980CB0}"/>
              </a:ext>
            </a:extLst>
          </p:cNvPr>
          <p:cNvSpPr/>
          <p:nvPr/>
        </p:nvSpPr>
        <p:spPr>
          <a:xfrm>
            <a:off x="571500" y="805985"/>
            <a:ext cx="11049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CDF282-C393-2363-F7C3-AD7BF1162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18" y="1291047"/>
            <a:ext cx="11962874" cy="53896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10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649</Words>
  <Application>Microsoft Office PowerPoint</Application>
  <PresentationFormat>Panorámica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Urbanist</vt:lpstr>
      <vt:lpstr>Calibri</vt:lpstr>
      <vt:lpstr>Urbanist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deivy montoya lopez</dc:creator>
  <cp:lastModifiedBy>Deivy Montoya Lopez</cp:lastModifiedBy>
  <cp:revision>5</cp:revision>
  <dcterms:modified xsi:type="dcterms:W3CDTF">2026-02-27T11:56:51Z</dcterms:modified>
</cp:coreProperties>
</file>